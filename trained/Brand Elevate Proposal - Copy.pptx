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89" r:id="rId3"/>
    <p:sldId id="288" r:id="rId4"/>
    <p:sldId id="267" r:id="rId5"/>
    <p:sldId id="261" r:id="rId6"/>
    <p:sldId id="299" r:id="rId7"/>
    <p:sldId id="300" r:id="rId8"/>
    <p:sldId id="290" r:id="rId9"/>
    <p:sldId id="292" r:id="rId10"/>
    <p:sldId id="301" r:id="rId11"/>
    <p:sldId id="302" r:id="rId12"/>
    <p:sldId id="309" r:id="rId13"/>
  </p:sldIdLst>
  <p:sldSz cx="18288000" cy="10287000"/>
  <p:notesSz cx="6858000" cy="9144000"/>
  <p:embeddedFontLst>
    <p:embeddedFont>
      <p:font typeface="Oswald" panose="020F0502020204030204" pitchFamily="2" charset="0"/>
      <p:regular r:id="rId15"/>
      <p:bold r:id="rId16"/>
    </p:embeddedFont>
    <p:embeddedFont>
      <p:font typeface="Proxima Nova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13F"/>
    <a:srgbClr val="15C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337" autoAdjust="0"/>
  </p:normalViewPr>
  <p:slideViewPr>
    <p:cSldViewPr>
      <p:cViewPr varScale="1">
        <p:scale>
          <a:sx n="63" d="100"/>
          <a:sy n="63" d="100"/>
        </p:scale>
        <p:origin x="1194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15881-6235-44D8-8061-BC086DFD5B1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ADD21B-B7E2-4423-8250-0511A530A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6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3EB7-1A59-EB44-6B53-15C77D44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5EFAB-9ACF-0881-87FA-91BD36E0D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94978-3074-BA17-80EA-06923ED31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5A2B5-5097-D0E1-9BD9-6ADDF266E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ADD21B-B7E2-4423-8250-0511A530A14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80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">
            <a:extLst>
              <a:ext uri="{FF2B5EF4-FFF2-40B4-BE49-F238E27FC236}">
                <a16:creationId xmlns:a16="http://schemas.microsoft.com/office/drawing/2014/main" id="{D43C02AC-07CB-11EA-0A19-24B5FA697792}"/>
              </a:ext>
            </a:extLst>
          </p:cNvPr>
          <p:cNvGrpSpPr/>
          <p:nvPr/>
        </p:nvGrpSpPr>
        <p:grpSpPr>
          <a:xfrm rot="172679">
            <a:off x="10375452" y="5379686"/>
            <a:ext cx="4861977" cy="4549742"/>
            <a:chOff x="150558" y="63851"/>
            <a:chExt cx="668522" cy="639839"/>
          </a:xfrm>
        </p:grpSpPr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0DF73AEE-2ED8-227F-0EBA-A669AE75F203}"/>
                </a:ext>
              </a:extLst>
            </p:cNvPr>
            <p:cNvSpPr/>
            <p:nvPr/>
          </p:nvSpPr>
          <p:spPr>
            <a:xfrm rot="21505686">
              <a:off x="150558" y="63851"/>
              <a:ext cx="668522" cy="639839"/>
            </a:xfrm>
            <a:custGeom>
              <a:avLst/>
              <a:gdLst/>
              <a:ahLst/>
              <a:cxnLst/>
              <a:rect l="l" t="t" r="r" b="b"/>
              <a:pathLst>
                <a:path w="812800" h="776166">
                  <a:moveTo>
                    <a:pt x="406400" y="0"/>
                  </a:moveTo>
                  <a:lnTo>
                    <a:pt x="812800" y="388083"/>
                  </a:lnTo>
                  <a:lnTo>
                    <a:pt x="406400" y="776166"/>
                  </a:lnTo>
                  <a:lnTo>
                    <a:pt x="0" y="388083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21619" r="-216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2"/>
          <p:cNvGrpSpPr/>
          <p:nvPr/>
        </p:nvGrpSpPr>
        <p:grpSpPr>
          <a:xfrm rot="2700000">
            <a:off x="13419492" y="-116578"/>
            <a:ext cx="6771901" cy="3309113"/>
            <a:chOff x="0" y="0"/>
            <a:chExt cx="812800" cy="3971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397178"/>
            </a:xfrm>
            <a:custGeom>
              <a:avLst/>
              <a:gdLst/>
              <a:ahLst/>
              <a:cxnLst/>
              <a:rect l="l" t="t" r="r" b="b"/>
              <a:pathLst>
                <a:path w="812800" h="397178">
                  <a:moveTo>
                    <a:pt x="406400" y="0"/>
                  </a:moveTo>
                  <a:lnTo>
                    <a:pt x="812800" y="397178"/>
                  </a:lnTo>
                  <a:lnTo>
                    <a:pt x="0" y="397178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136779"/>
              <a:ext cx="558800" cy="232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3280" y="6350242"/>
            <a:ext cx="11673920" cy="2299664"/>
          </a:xfrm>
          <a:prstGeom prst="rect">
            <a:avLst/>
          </a:prstGeom>
          <a:noFill/>
        </p:spPr>
        <p:txBody>
          <a:bodyPr lIns="50800" tIns="50800" rIns="50800" bIns="50800" rtlCol="0" anchor="ctr"/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Proxima Nova" panose="020B0604020202020204" charset="0"/>
              </a:rPr>
              <a:t>Strengthening  Market  Leadership </a:t>
            </a:r>
          </a:p>
          <a:p>
            <a:pPr algn="ctr">
              <a:lnSpc>
                <a:spcPct val="150000"/>
              </a:lnSpc>
            </a:pPr>
            <a:r>
              <a:rPr lang="en-US" sz="3200" b="1" dirty="0">
                <a:latin typeface="Proxima Nova" panose="020B0604020202020204" charset="0"/>
              </a:rPr>
              <a:t>and </a:t>
            </a:r>
          </a:p>
          <a:p>
            <a:pPr algn="ctr">
              <a:lnSpc>
                <a:spcPct val="150000"/>
              </a:lnSpc>
            </a:pPr>
            <a:r>
              <a:rPr lang="en-US" sz="3200" b="1" dirty="0">
                <a:latin typeface="Proxima Nova" panose="020B0604020202020204" charset="0"/>
              </a:rPr>
              <a:t>Maximize the Customer Convenience &amp; Experience</a:t>
            </a:r>
            <a:endParaRPr sz="3200" b="1" dirty="0">
              <a:latin typeface="Proxima Nova" panose="020B0604020202020204" charset="0"/>
            </a:endParaRPr>
          </a:p>
        </p:txBody>
      </p:sp>
      <p:grpSp>
        <p:nvGrpSpPr>
          <p:cNvPr id="10" name="Group 10"/>
          <p:cNvGrpSpPr/>
          <p:nvPr/>
        </p:nvGrpSpPr>
        <p:grpSpPr>
          <a:xfrm rot="94314">
            <a:off x="10501833" y="393309"/>
            <a:ext cx="4862178" cy="4643031"/>
            <a:chOff x="0" y="0"/>
            <a:chExt cx="812800" cy="7761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76166"/>
            </a:xfrm>
            <a:custGeom>
              <a:avLst/>
              <a:gdLst/>
              <a:ahLst/>
              <a:cxnLst/>
              <a:rect l="l" t="t" r="r" b="b"/>
              <a:pathLst>
                <a:path w="812800" h="776166">
                  <a:moveTo>
                    <a:pt x="406400" y="0"/>
                  </a:moveTo>
                  <a:lnTo>
                    <a:pt x="812800" y="388083"/>
                  </a:lnTo>
                  <a:lnTo>
                    <a:pt x="406400" y="776166"/>
                  </a:lnTo>
                  <a:lnTo>
                    <a:pt x="0" y="388083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"/>
              <a:stretch>
                <a:fillRect l="-26241" r="-262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94314">
            <a:off x="13058457" y="2938982"/>
            <a:ext cx="4862178" cy="4643031"/>
            <a:chOff x="0" y="0"/>
            <a:chExt cx="812800" cy="7761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76166"/>
            </a:xfrm>
            <a:custGeom>
              <a:avLst/>
              <a:gdLst/>
              <a:ahLst/>
              <a:cxnLst/>
              <a:rect l="l" t="t" r="r" b="b"/>
              <a:pathLst>
                <a:path w="812800" h="776166">
                  <a:moveTo>
                    <a:pt x="406400" y="0"/>
                  </a:moveTo>
                  <a:lnTo>
                    <a:pt x="812800" y="388083"/>
                  </a:lnTo>
                  <a:lnTo>
                    <a:pt x="406400" y="776166"/>
                  </a:lnTo>
                  <a:lnTo>
                    <a:pt x="0" y="388083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63382" r="-45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117412">
            <a:off x="10274838" y="3915088"/>
            <a:ext cx="2374135" cy="237413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dirty="0"/>
            </a:p>
          </p:txBody>
        </p:sp>
      </p:grpSp>
      <p:grpSp>
        <p:nvGrpSpPr>
          <p:cNvPr id="17" name="Group 17"/>
          <p:cNvGrpSpPr/>
          <p:nvPr/>
        </p:nvGrpSpPr>
        <p:grpSpPr>
          <a:xfrm rot="117412">
            <a:off x="15569425" y="6635953"/>
            <a:ext cx="2374135" cy="237413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117412">
            <a:off x="-1347178" y="3116922"/>
            <a:ext cx="2374135" cy="237413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10800000">
            <a:off x="6160264" y="9099933"/>
            <a:ext cx="2374135" cy="237413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95400" y="1441252"/>
            <a:ext cx="9341388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66"/>
              </a:lnSpc>
            </a:pPr>
            <a:r>
              <a:rPr lang="en-US" sz="11000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Brand Elevate Proposal </a:t>
            </a:r>
          </a:p>
          <a:p>
            <a:pPr algn="ctr">
              <a:lnSpc>
                <a:spcPts val="11966"/>
              </a:lnSpc>
            </a:pPr>
            <a:r>
              <a:rPr lang="en-US" sz="11000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3 in1 Category</a:t>
            </a:r>
          </a:p>
        </p:txBody>
      </p:sp>
      <p:grpSp>
        <p:nvGrpSpPr>
          <p:cNvPr id="37" name="Group 14">
            <a:extLst>
              <a:ext uri="{FF2B5EF4-FFF2-40B4-BE49-F238E27FC236}">
                <a16:creationId xmlns:a16="http://schemas.microsoft.com/office/drawing/2014/main" id="{53012853-6C93-FA24-DBCE-87959AB599CB}"/>
              </a:ext>
            </a:extLst>
          </p:cNvPr>
          <p:cNvGrpSpPr/>
          <p:nvPr/>
        </p:nvGrpSpPr>
        <p:grpSpPr>
          <a:xfrm rot="117412">
            <a:off x="14196441" y="7917884"/>
            <a:ext cx="2374135" cy="2374135"/>
            <a:chOff x="0" y="0"/>
            <a:chExt cx="812800" cy="812800"/>
          </a:xfrm>
        </p:grpSpPr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0A205200-C5A5-ECA8-682B-96A40CDA6D3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16">
              <a:extLst>
                <a:ext uri="{FF2B5EF4-FFF2-40B4-BE49-F238E27FC236}">
                  <a16:creationId xmlns:a16="http://schemas.microsoft.com/office/drawing/2014/main" id="{0735DAF2-AFBC-DEC8-4036-FFF3ACC48726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dirty="0"/>
            </a:p>
          </p:txBody>
        </p:sp>
      </p:grpSp>
      <p:sp>
        <p:nvSpPr>
          <p:cNvPr id="41" name="Freeform 15">
            <a:extLst>
              <a:ext uri="{FF2B5EF4-FFF2-40B4-BE49-F238E27FC236}">
                <a16:creationId xmlns:a16="http://schemas.microsoft.com/office/drawing/2014/main" id="{2C9EAF54-9B04-CC5C-C93F-BFED94525379}"/>
              </a:ext>
            </a:extLst>
          </p:cNvPr>
          <p:cNvSpPr/>
          <p:nvPr/>
        </p:nvSpPr>
        <p:spPr>
          <a:xfrm>
            <a:off x="15011400" y="890498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sp>
        <p:nvSpPr>
          <p:cNvPr id="44" name="Freeform 15">
            <a:extLst>
              <a:ext uri="{FF2B5EF4-FFF2-40B4-BE49-F238E27FC236}">
                <a16:creationId xmlns:a16="http://schemas.microsoft.com/office/drawing/2014/main" id="{B962E477-6184-C433-5ECE-DE674099CD5E}"/>
              </a:ext>
            </a:extLst>
          </p:cNvPr>
          <p:cNvSpPr/>
          <p:nvPr/>
        </p:nvSpPr>
        <p:spPr>
          <a:xfrm>
            <a:off x="-1638424" y="3120278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sp>
        <p:nvSpPr>
          <p:cNvPr id="45" name="Freeform 15">
            <a:extLst>
              <a:ext uri="{FF2B5EF4-FFF2-40B4-BE49-F238E27FC236}">
                <a16:creationId xmlns:a16="http://schemas.microsoft.com/office/drawing/2014/main" id="{4F9EA54C-7716-E740-1CFE-A34E9F0DD45C}"/>
              </a:ext>
            </a:extLst>
          </p:cNvPr>
          <p:cNvSpPr/>
          <p:nvPr/>
        </p:nvSpPr>
        <p:spPr>
          <a:xfrm>
            <a:off x="6160264" y="9399148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46" name="Group 14">
            <a:extLst>
              <a:ext uri="{FF2B5EF4-FFF2-40B4-BE49-F238E27FC236}">
                <a16:creationId xmlns:a16="http://schemas.microsoft.com/office/drawing/2014/main" id="{35C7633E-5A36-6686-310D-03BDE8142124}"/>
              </a:ext>
            </a:extLst>
          </p:cNvPr>
          <p:cNvGrpSpPr/>
          <p:nvPr/>
        </p:nvGrpSpPr>
        <p:grpSpPr>
          <a:xfrm>
            <a:off x="15271262" y="1140802"/>
            <a:ext cx="1819216" cy="1830297"/>
            <a:chOff x="0" y="0"/>
            <a:chExt cx="812800" cy="812800"/>
          </a:xfrm>
        </p:grpSpPr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E4A40DB2-966A-7D75-9071-CE0B41ACE7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16">
              <a:extLst>
                <a:ext uri="{FF2B5EF4-FFF2-40B4-BE49-F238E27FC236}">
                  <a16:creationId xmlns:a16="http://schemas.microsoft.com/office/drawing/2014/main" id="{63DEC4EA-2905-903E-7047-5BBDFC4BD998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dirty="0"/>
            </a:p>
          </p:txBody>
        </p:sp>
      </p:grpSp>
      <p:sp>
        <p:nvSpPr>
          <p:cNvPr id="49" name="Freeform 15">
            <a:extLst>
              <a:ext uri="{FF2B5EF4-FFF2-40B4-BE49-F238E27FC236}">
                <a16:creationId xmlns:a16="http://schemas.microsoft.com/office/drawing/2014/main" id="{97763002-22C8-147C-0FB6-3D26AD345CBB}"/>
              </a:ext>
            </a:extLst>
          </p:cNvPr>
          <p:cNvSpPr/>
          <p:nvPr/>
        </p:nvSpPr>
        <p:spPr>
          <a:xfrm rot="152984">
            <a:off x="15753384" y="6847065"/>
            <a:ext cx="1942624" cy="195191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5779-5A80-1E40-E27F-93B98FD6F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7CC4F510-2502-94F8-53E9-97DECA8AF4FD}"/>
              </a:ext>
            </a:extLst>
          </p:cNvPr>
          <p:cNvSpPr txBox="1"/>
          <p:nvPr/>
        </p:nvSpPr>
        <p:spPr>
          <a:xfrm>
            <a:off x="719897" y="850079"/>
            <a:ext cx="17754600" cy="145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1966"/>
              </a:lnSpc>
              <a:spcBef>
                <a:spcPct val="0"/>
              </a:spcBef>
            </a:pPr>
            <a:r>
              <a:rPr lang="en-US" sz="9972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Convenient Insurance Wallet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11C456D-DEC8-70B6-0E62-AE4875521572}"/>
              </a:ext>
            </a:extLst>
          </p:cNvPr>
          <p:cNvGrpSpPr/>
          <p:nvPr/>
        </p:nvGrpSpPr>
        <p:grpSpPr>
          <a:xfrm rot="-10723635">
            <a:off x="8845327" y="-2057452"/>
            <a:ext cx="2921485" cy="2921485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6F9CEB5-E171-870F-EA2F-E7BC212874D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A036046-4734-95A8-85C0-74585DACC990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6" name="Group 23">
            <a:extLst>
              <a:ext uri="{FF2B5EF4-FFF2-40B4-BE49-F238E27FC236}">
                <a16:creationId xmlns:a16="http://schemas.microsoft.com/office/drawing/2014/main" id="{44615F9D-2A4E-3E88-5EAB-C54AAB72BC86}"/>
              </a:ext>
            </a:extLst>
          </p:cNvPr>
          <p:cNvGrpSpPr/>
          <p:nvPr/>
        </p:nvGrpSpPr>
        <p:grpSpPr>
          <a:xfrm rot="-10800000">
            <a:off x="17068550" y="-462065"/>
            <a:ext cx="2374135" cy="2374135"/>
            <a:chOff x="0" y="0"/>
            <a:chExt cx="812800" cy="812800"/>
          </a:xfrm>
        </p:grpSpPr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061ABF3F-49D1-211B-23B2-D6B0D1082B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16608574-0587-B330-3A24-25651DD1BB42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9" name="Freeform 15">
            <a:extLst>
              <a:ext uri="{FF2B5EF4-FFF2-40B4-BE49-F238E27FC236}">
                <a16:creationId xmlns:a16="http://schemas.microsoft.com/office/drawing/2014/main" id="{E6ACA3BC-9061-490C-A468-CF53C0B718B7}"/>
              </a:ext>
            </a:extLst>
          </p:cNvPr>
          <p:cNvSpPr/>
          <p:nvPr/>
        </p:nvSpPr>
        <p:spPr>
          <a:xfrm>
            <a:off x="17068550" y="-162850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0B4BAE-9CF7-6380-C1B3-AFA3F9ED6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" t="23468" r="1164" b="22656"/>
          <a:stretch>
            <a:fillRect/>
          </a:stretch>
        </p:blipFill>
        <p:spPr>
          <a:xfrm>
            <a:off x="533400" y="2984867"/>
            <a:ext cx="17449800" cy="6452054"/>
          </a:xfrm>
          <a:prstGeom prst="rect">
            <a:avLst/>
          </a:prstGeom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368E6DE8-4466-81E9-B0A9-CABCD01A907C}"/>
              </a:ext>
            </a:extLst>
          </p:cNvPr>
          <p:cNvGrpSpPr/>
          <p:nvPr/>
        </p:nvGrpSpPr>
        <p:grpSpPr>
          <a:xfrm rot="-10723635">
            <a:off x="-1720515" y="8528385"/>
            <a:ext cx="2921485" cy="2921485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076A533-7416-9CBD-7454-7AC56A24320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6C281DB-5092-7480-3362-7B6EBAE1AE20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B4E27DD-910F-A794-1183-302397098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22154"/>
          <a:stretch>
            <a:fillRect/>
          </a:stretch>
        </p:blipFill>
        <p:spPr>
          <a:xfrm>
            <a:off x="1233056" y="3395347"/>
            <a:ext cx="1594365" cy="60515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3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28F38-E948-7150-C0FE-7BC70EB6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BACC920B-4F69-ECAB-E319-3C0A9933ED27}"/>
              </a:ext>
            </a:extLst>
          </p:cNvPr>
          <p:cNvSpPr txBox="1"/>
          <p:nvPr/>
        </p:nvSpPr>
        <p:spPr>
          <a:xfrm>
            <a:off x="762000" y="765858"/>
            <a:ext cx="17754600" cy="145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1966"/>
              </a:lnSpc>
              <a:spcBef>
                <a:spcPct val="0"/>
              </a:spcBef>
            </a:pPr>
            <a:r>
              <a:rPr lang="en-US" sz="9972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Convenient Insurance Wallet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7405435-FE83-3551-408C-818E574A67DD}"/>
              </a:ext>
            </a:extLst>
          </p:cNvPr>
          <p:cNvGrpSpPr/>
          <p:nvPr/>
        </p:nvGrpSpPr>
        <p:grpSpPr>
          <a:xfrm rot="-10723635">
            <a:off x="8845327" y="-2057452"/>
            <a:ext cx="2921485" cy="2921485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887CF7B-33C7-3DE3-E08E-673E0B2E26D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4CDBE18-069B-2538-1E0C-03FA6DF98048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6" name="Group 23">
            <a:extLst>
              <a:ext uri="{FF2B5EF4-FFF2-40B4-BE49-F238E27FC236}">
                <a16:creationId xmlns:a16="http://schemas.microsoft.com/office/drawing/2014/main" id="{82B82242-BA21-A9E8-56BB-54311392ADFD}"/>
              </a:ext>
            </a:extLst>
          </p:cNvPr>
          <p:cNvGrpSpPr/>
          <p:nvPr/>
        </p:nvGrpSpPr>
        <p:grpSpPr>
          <a:xfrm rot="-10800000">
            <a:off x="17068550" y="-462065"/>
            <a:ext cx="2374135" cy="2374135"/>
            <a:chOff x="0" y="0"/>
            <a:chExt cx="812800" cy="812800"/>
          </a:xfrm>
        </p:grpSpPr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DFEE4F2F-10DB-F9BD-D2A6-8F287B56C74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6033F00B-A44E-6F51-36EE-3DB64A4D0B07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9" name="Freeform 15">
            <a:extLst>
              <a:ext uri="{FF2B5EF4-FFF2-40B4-BE49-F238E27FC236}">
                <a16:creationId xmlns:a16="http://schemas.microsoft.com/office/drawing/2014/main" id="{0F82DEE4-9C80-93E7-43F3-6C91A86CE5C3}"/>
              </a:ext>
            </a:extLst>
          </p:cNvPr>
          <p:cNvSpPr/>
          <p:nvPr/>
        </p:nvSpPr>
        <p:spPr>
          <a:xfrm>
            <a:off x="17068550" y="-162850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F0A78B-C459-E7B0-65BA-984F29E20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" t="23468" r="1862" b="24444"/>
          <a:stretch>
            <a:fillRect/>
          </a:stretch>
        </p:blipFill>
        <p:spPr>
          <a:xfrm>
            <a:off x="533400" y="2650874"/>
            <a:ext cx="17449800" cy="6282385"/>
          </a:xfrm>
          <a:prstGeom prst="rect">
            <a:avLst/>
          </a:prstGeom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AFF2B796-151A-014A-2FD4-94C6C107FEAB}"/>
              </a:ext>
            </a:extLst>
          </p:cNvPr>
          <p:cNvGrpSpPr/>
          <p:nvPr/>
        </p:nvGrpSpPr>
        <p:grpSpPr>
          <a:xfrm rot="-10723635">
            <a:off x="-1460743" y="8452185"/>
            <a:ext cx="2921485" cy="2921485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4EF064A-DD8E-5F76-4968-F552C0FCC6B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2099D5C-85EC-7764-339F-1D300778D78D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13F11C4-1686-7932-6E34-ECFDC108D5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22154"/>
          <a:stretch>
            <a:fillRect/>
          </a:stretch>
        </p:blipFill>
        <p:spPr>
          <a:xfrm>
            <a:off x="7112559" y="3848100"/>
            <a:ext cx="1802841" cy="60515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3553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0549A3-3FE8-732E-751E-08C1F13FF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2" t="23468" r="81771" b="22604"/>
          <a:stretch>
            <a:fillRect/>
          </a:stretch>
        </p:blipFill>
        <p:spPr>
          <a:xfrm>
            <a:off x="12000652" y="725002"/>
            <a:ext cx="4229948" cy="937149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005839" y="4569577"/>
            <a:ext cx="9585960" cy="4363682"/>
            <a:chOff x="0" y="0"/>
            <a:chExt cx="2056270" cy="12676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6270" cy="1267688"/>
            </a:xfrm>
            <a:custGeom>
              <a:avLst/>
              <a:gdLst/>
              <a:ahLst/>
              <a:cxnLst/>
              <a:rect l="l" t="t" r="r" b="b"/>
              <a:pathLst>
                <a:path w="2056270" h="1267688">
                  <a:moveTo>
                    <a:pt x="0" y="0"/>
                  </a:moveTo>
                  <a:lnTo>
                    <a:pt x="2056270" y="0"/>
                  </a:lnTo>
                  <a:lnTo>
                    <a:pt x="2056270" y="1267688"/>
                  </a:lnTo>
                  <a:lnTo>
                    <a:pt x="0" y="126768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56270" cy="1315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01018" y="1197463"/>
            <a:ext cx="17754600" cy="145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1966"/>
              </a:lnSpc>
              <a:spcBef>
                <a:spcPct val="0"/>
              </a:spcBef>
            </a:pPr>
            <a:r>
              <a:rPr lang="en-US" sz="9972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Digital Innovation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3263" y="4457700"/>
            <a:ext cx="7184136" cy="360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u="none" strike="noStrik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Instant quotations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u="none" strike="noStrik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Online policy purchasing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Premium payments through mobile</a:t>
            </a:r>
            <a:endParaRPr lang="en-US" sz="3200" u="none" strike="noStrik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u="none" strike="noStrik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Policy do</a:t>
            </a: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cuments acknowledgement</a:t>
            </a:r>
            <a:endParaRPr lang="en-US" sz="3200" u="none" strike="noStrik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u="none" strike="noStrik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Digital claims submission</a:t>
            </a:r>
          </a:p>
        </p:txBody>
      </p:sp>
      <p:grpSp>
        <p:nvGrpSpPr>
          <p:cNvPr id="11" name="Group 11"/>
          <p:cNvGrpSpPr/>
          <p:nvPr/>
        </p:nvGrpSpPr>
        <p:grpSpPr>
          <a:xfrm rot="-10723635">
            <a:off x="8845327" y="-2057452"/>
            <a:ext cx="2921485" cy="292148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723635">
            <a:off x="-1460743" y="8452185"/>
            <a:ext cx="2921485" cy="292148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TextBox 9">
            <a:extLst>
              <a:ext uri="{FF2B5EF4-FFF2-40B4-BE49-F238E27FC236}">
                <a16:creationId xmlns:a16="http://schemas.microsoft.com/office/drawing/2014/main" id="{8776C01E-EA0E-DB46-CD08-D207BE249D24}"/>
              </a:ext>
            </a:extLst>
          </p:cNvPr>
          <p:cNvSpPr txBox="1"/>
          <p:nvPr/>
        </p:nvSpPr>
        <p:spPr>
          <a:xfrm>
            <a:off x="1243262" y="8123354"/>
            <a:ext cx="9348537" cy="645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u="none" strike="noStrik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Location Finde</a:t>
            </a: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rs ( Branches/ Hospitals/ Garages)</a:t>
            </a:r>
            <a:endParaRPr lang="en-US" sz="3200" u="none" strike="noStrik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B3E997E5-1AEB-98A6-4BBF-093488C7FAA0}"/>
              </a:ext>
            </a:extLst>
          </p:cNvPr>
          <p:cNvSpPr txBox="1"/>
          <p:nvPr/>
        </p:nvSpPr>
        <p:spPr>
          <a:xfrm>
            <a:off x="1005839" y="3840204"/>
            <a:ext cx="7138701" cy="509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4800" u="none" strike="noStrike" dirty="0">
                <a:solidFill>
                  <a:srgbClr val="000000"/>
                </a:solidFill>
                <a:latin typeface="Oswald" panose="00000500000000000000" pitchFamily="2" charset="0"/>
                <a:ea typeface="Proxima Nova"/>
                <a:cs typeface="Proxima Nova"/>
                <a:sym typeface="Proxima Nova"/>
              </a:rPr>
              <a:t>Ceylinco VIP Insurance Wallet</a:t>
            </a:r>
          </a:p>
        </p:txBody>
      </p:sp>
      <p:grpSp>
        <p:nvGrpSpPr>
          <p:cNvPr id="26" name="Group 23">
            <a:extLst>
              <a:ext uri="{FF2B5EF4-FFF2-40B4-BE49-F238E27FC236}">
                <a16:creationId xmlns:a16="http://schemas.microsoft.com/office/drawing/2014/main" id="{1B96E209-B4E7-84AE-57BA-340AFAB26F4A}"/>
              </a:ext>
            </a:extLst>
          </p:cNvPr>
          <p:cNvGrpSpPr/>
          <p:nvPr/>
        </p:nvGrpSpPr>
        <p:grpSpPr>
          <a:xfrm rot="-10800000">
            <a:off x="17068550" y="-462065"/>
            <a:ext cx="2374135" cy="2374135"/>
            <a:chOff x="0" y="0"/>
            <a:chExt cx="812800" cy="812800"/>
          </a:xfrm>
        </p:grpSpPr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EF5F97B1-57EB-13C0-C4A0-9CD0C99D6F4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4403AB9B-81A8-F238-CAC6-332A9B058B32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9" name="Freeform 15">
            <a:extLst>
              <a:ext uri="{FF2B5EF4-FFF2-40B4-BE49-F238E27FC236}">
                <a16:creationId xmlns:a16="http://schemas.microsoft.com/office/drawing/2014/main" id="{4C4B0772-8495-43D8-22A5-EA5BDE041A2B}"/>
              </a:ext>
            </a:extLst>
          </p:cNvPr>
          <p:cNvSpPr/>
          <p:nvPr/>
        </p:nvSpPr>
        <p:spPr>
          <a:xfrm>
            <a:off x="17068550" y="-162850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2256411-DB2B-A09C-3655-96EBF13886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22154"/>
          <a:stretch>
            <a:fillRect/>
          </a:stretch>
        </p:blipFill>
        <p:spPr>
          <a:xfrm>
            <a:off x="12801600" y="1256850"/>
            <a:ext cx="2514600" cy="954435"/>
          </a:xfrm>
          <a:prstGeom prst="roundRect">
            <a:avLst/>
          </a:prstGeom>
        </p:spPr>
      </p:pic>
      <p:sp>
        <p:nvSpPr>
          <p:cNvPr id="41" name="Freeform 15">
            <a:extLst>
              <a:ext uri="{FF2B5EF4-FFF2-40B4-BE49-F238E27FC236}">
                <a16:creationId xmlns:a16="http://schemas.microsoft.com/office/drawing/2014/main" id="{7F1F8554-2904-51E6-ECB6-862B1E2F3861}"/>
              </a:ext>
            </a:extLst>
          </p:cNvPr>
          <p:cNvSpPr/>
          <p:nvPr/>
        </p:nvSpPr>
        <p:spPr>
          <a:xfrm>
            <a:off x="-2044616" y="3714674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060413"/>
            <a:ext cx="8799751" cy="6932834"/>
            <a:chOff x="0" y="0"/>
            <a:chExt cx="1389146" cy="18037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9146" cy="1803714"/>
            </a:xfrm>
            <a:custGeom>
              <a:avLst/>
              <a:gdLst/>
              <a:ahLst/>
              <a:cxnLst/>
              <a:rect l="l" t="t" r="r" b="b"/>
              <a:pathLst>
                <a:path w="1389146" h="1803714">
                  <a:moveTo>
                    <a:pt x="0" y="0"/>
                  </a:moveTo>
                  <a:lnTo>
                    <a:pt x="1389146" y="0"/>
                  </a:lnTo>
                  <a:lnTo>
                    <a:pt x="1389146" y="1803714"/>
                  </a:lnTo>
                  <a:lnTo>
                    <a:pt x="0" y="1803714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89146" cy="1851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2756167"/>
            <a:ext cx="8565960" cy="926241"/>
            <a:chOff x="0" y="0"/>
            <a:chExt cx="1389146" cy="4255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9146" cy="425564"/>
            </a:xfrm>
            <a:custGeom>
              <a:avLst/>
              <a:gdLst/>
              <a:ahLst/>
              <a:cxnLst/>
              <a:rect l="l" t="t" r="r" b="b"/>
              <a:pathLst>
                <a:path w="1389146" h="425564">
                  <a:moveTo>
                    <a:pt x="0" y="0"/>
                  </a:moveTo>
                  <a:lnTo>
                    <a:pt x="1389146" y="0"/>
                  </a:lnTo>
                  <a:lnTo>
                    <a:pt x="1389146" y="425564"/>
                  </a:lnTo>
                  <a:lnTo>
                    <a:pt x="0" y="425564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89146" cy="473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16589988" y="-1698012"/>
            <a:ext cx="3396023" cy="339602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-2837803" y="8312074"/>
            <a:ext cx="3396023" cy="339602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21726" y="2559864"/>
            <a:ext cx="5222535" cy="90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640"/>
              </a:lnSpc>
              <a:spcBef>
                <a:spcPct val="0"/>
              </a:spcBef>
            </a:pPr>
            <a:r>
              <a:rPr lang="en-US" sz="2800" b="1" u="none" strike="noStrike" dirty="0">
                <a:solidFill>
                  <a:srgbClr val="FFFFFF"/>
                </a:solidFill>
                <a:latin typeface="Proxima Nova" panose="020B0604020202020204" charset="0"/>
                <a:ea typeface="Oswald"/>
                <a:cs typeface="Oswald"/>
                <a:sym typeface="Oswald"/>
              </a:rPr>
              <a:t>Customer Profile &amp; 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71072" y="3006861"/>
            <a:ext cx="4584125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4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Vision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8599" y="3848100"/>
            <a:ext cx="8799751" cy="5816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Customer registration and secure login </a:t>
            </a:r>
          </a:p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(OTP / biometric)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Personal profile management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View all active policies in one dashboard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Policy status, premium due dates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Policy coverage details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Policy Acknowledgement (Proposal/ CNC/ SI)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Digital insurance card / policy certificate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867B15D5-5922-10DB-5F94-1EF22615EF4D}"/>
              </a:ext>
            </a:extLst>
          </p:cNvPr>
          <p:cNvSpPr txBox="1"/>
          <p:nvPr/>
        </p:nvSpPr>
        <p:spPr>
          <a:xfrm>
            <a:off x="1121726" y="882781"/>
            <a:ext cx="17754600" cy="145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966"/>
              </a:lnSpc>
              <a:spcBef>
                <a:spcPct val="0"/>
              </a:spcBef>
            </a:pPr>
            <a:r>
              <a:rPr lang="en-US" sz="9972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VIP Wallet Overview</a:t>
            </a:r>
          </a:p>
        </p:txBody>
      </p:sp>
      <p:grpSp>
        <p:nvGrpSpPr>
          <p:cNvPr id="29" name="Group 23">
            <a:extLst>
              <a:ext uri="{FF2B5EF4-FFF2-40B4-BE49-F238E27FC236}">
                <a16:creationId xmlns:a16="http://schemas.microsoft.com/office/drawing/2014/main" id="{86C279C0-0C1D-8B1B-80B1-1423EF4A998A}"/>
              </a:ext>
            </a:extLst>
          </p:cNvPr>
          <p:cNvGrpSpPr/>
          <p:nvPr/>
        </p:nvGrpSpPr>
        <p:grpSpPr>
          <a:xfrm rot="-10800000">
            <a:off x="-1942699" y="2567721"/>
            <a:ext cx="2374135" cy="2374135"/>
            <a:chOff x="0" y="0"/>
            <a:chExt cx="812800" cy="812800"/>
          </a:xfrm>
        </p:grpSpPr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99C2C38-F3E5-A50C-EF38-451D34AEA30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25">
              <a:extLst>
                <a:ext uri="{FF2B5EF4-FFF2-40B4-BE49-F238E27FC236}">
                  <a16:creationId xmlns:a16="http://schemas.microsoft.com/office/drawing/2014/main" id="{9D5B221D-2820-15E1-457A-55AAEABCEC38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Freeform 15">
            <a:extLst>
              <a:ext uri="{FF2B5EF4-FFF2-40B4-BE49-F238E27FC236}">
                <a16:creationId xmlns:a16="http://schemas.microsoft.com/office/drawing/2014/main" id="{C7B66030-A74A-C490-68BD-033E46CDB6E5}"/>
              </a:ext>
            </a:extLst>
          </p:cNvPr>
          <p:cNvSpPr/>
          <p:nvPr/>
        </p:nvSpPr>
        <p:spPr>
          <a:xfrm>
            <a:off x="-1942699" y="2866936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33" name="Group 23">
            <a:extLst>
              <a:ext uri="{FF2B5EF4-FFF2-40B4-BE49-F238E27FC236}">
                <a16:creationId xmlns:a16="http://schemas.microsoft.com/office/drawing/2014/main" id="{FEF3BACB-3AC5-8BD3-CB11-1101C18D2BB6}"/>
              </a:ext>
            </a:extLst>
          </p:cNvPr>
          <p:cNvGrpSpPr/>
          <p:nvPr/>
        </p:nvGrpSpPr>
        <p:grpSpPr>
          <a:xfrm rot="-10800000">
            <a:off x="16072232" y="9264119"/>
            <a:ext cx="2374135" cy="2374135"/>
            <a:chOff x="0" y="0"/>
            <a:chExt cx="812800" cy="812800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CAEBCDF5-0BA7-1ACF-A3D0-18F13EC5EB2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25">
              <a:extLst>
                <a:ext uri="{FF2B5EF4-FFF2-40B4-BE49-F238E27FC236}">
                  <a16:creationId xmlns:a16="http://schemas.microsoft.com/office/drawing/2014/main" id="{2BB0079E-3049-791F-393A-F8D6CE112761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2678845-0F04-1FC7-9B0F-2F73FB02E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9" t="22884" r="49450" b="23511"/>
          <a:stretch>
            <a:fillRect/>
          </a:stretch>
        </p:blipFill>
        <p:spPr>
          <a:xfrm>
            <a:off x="10769411" y="2742313"/>
            <a:ext cx="6573276" cy="7267773"/>
          </a:xfrm>
          <a:prstGeom prst="rect">
            <a:avLst/>
          </a:prstGeom>
        </p:spPr>
      </p:pic>
      <p:sp>
        <p:nvSpPr>
          <p:cNvPr id="36" name="Freeform 15">
            <a:extLst>
              <a:ext uri="{FF2B5EF4-FFF2-40B4-BE49-F238E27FC236}">
                <a16:creationId xmlns:a16="http://schemas.microsoft.com/office/drawing/2014/main" id="{07B7D1DE-8D64-9189-58EC-660D90EA6FB7}"/>
              </a:ext>
            </a:extLst>
          </p:cNvPr>
          <p:cNvSpPr/>
          <p:nvPr/>
        </p:nvSpPr>
        <p:spPr>
          <a:xfrm>
            <a:off x="16210701" y="9745349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2A453-FADA-A7B4-F5F2-6347625C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6A40261-2EBC-450C-E709-E11000DCCA31}"/>
              </a:ext>
            </a:extLst>
          </p:cNvPr>
          <p:cNvGrpSpPr/>
          <p:nvPr/>
        </p:nvGrpSpPr>
        <p:grpSpPr>
          <a:xfrm>
            <a:off x="838200" y="2975776"/>
            <a:ext cx="7911621" cy="4660352"/>
            <a:chOff x="0" y="0"/>
            <a:chExt cx="1389146" cy="18037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79322D6-4B61-20DE-7E30-6DB65E2629B3}"/>
                </a:ext>
              </a:extLst>
            </p:cNvPr>
            <p:cNvSpPr/>
            <p:nvPr/>
          </p:nvSpPr>
          <p:spPr>
            <a:xfrm>
              <a:off x="0" y="0"/>
              <a:ext cx="1389146" cy="1803714"/>
            </a:xfrm>
            <a:custGeom>
              <a:avLst/>
              <a:gdLst/>
              <a:ahLst/>
              <a:cxnLst/>
              <a:rect l="l" t="t" r="r" b="b"/>
              <a:pathLst>
                <a:path w="1389146" h="1803714">
                  <a:moveTo>
                    <a:pt x="0" y="0"/>
                  </a:moveTo>
                  <a:lnTo>
                    <a:pt x="1389146" y="0"/>
                  </a:lnTo>
                  <a:lnTo>
                    <a:pt x="1389146" y="1803714"/>
                  </a:lnTo>
                  <a:lnTo>
                    <a:pt x="0" y="1803714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4C98E47-29BE-099F-63EE-7AD53EEEFEAD}"/>
                </a:ext>
              </a:extLst>
            </p:cNvPr>
            <p:cNvSpPr txBox="1"/>
            <p:nvPr/>
          </p:nvSpPr>
          <p:spPr>
            <a:xfrm>
              <a:off x="0" y="-47625"/>
              <a:ext cx="1389146" cy="1851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781D852-1FF0-9F12-4670-C9FBBFDD1EC8}"/>
              </a:ext>
            </a:extLst>
          </p:cNvPr>
          <p:cNvGrpSpPr/>
          <p:nvPr/>
        </p:nvGrpSpPr>
        <p:grpSpPr>
          <a:xfrm rot="-10800000">
            <a:off x="7127382" y="-1698012"/>
            <a:ext cx="3396023" cy="3396023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AB18523-1936-A4A8-7E06-60F20C3BB4E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A604485A-0AB0-3506-2B49-B6CDEC80F183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C04BD79F-17AA-2F73-2284-3244C904F9D0}"/>
              </a:ext>
            </a:extLst>
          </p:cNvPr>
          <p:cNvSpPr txBox="1"/>
          <p:nvPr/>
        </p:nvSpPr>
        <p:spPr>
          <a:xfrm>
            <a:off x="1233596" y="3880029"/>
            <a:ext cx="7516226" cy="3600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View policy documents (PDF download)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Policy renewal reminders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Add new policies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Coverage details and benefits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Nominee / beneficiary details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3A16CD39-7F1F-AB3C-E483-626394FB6667}"/>
              </a:ext>
            </a:extLst>
          </p:cNvPr>
          <p:cNvSpPr txBox="1"/>
          <p:nvPr/>
        </p:nvSpPr>
        <p:spPr>
          <a:xfrm>
            <a:off x="501018" y="1197463"/>
            <a:ext cx="17754600" cy="145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1966"/>
              </a:lnSpc>
              <a:spcBef>
                <a:spcPct val="0"/>
              </a:spcBef>
            </a:pPr>
            <a:r>
              <a:rPr lang="en-US" sz="9972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VIP Wallet Overview</a:t>
            </a:r>
          </a:p>
        </p:txBody>
      </p:sp>
      <p:grpSp>
        <p:nvGrpSpPr>
          <p:cNvPr id="29" name="Group 23">
            <a:extLst>
              <a:ext uri="{FF2B5EF4-FFF2-40B4-BE49-F238E27FC236}">
                <a16:creationId xmlns:a16="http://schemas.microsoft.com/office/drawing/2014/main" id="{9ADAFF1B-2B12-49BE-91C4-BCBA72452E0F}"/>
              </a:ext>
            </a:extLst>
          </p:cNvPr>
          <p:cNvGrpSpPr/>
          <p:nvPr/>
        </p:nvGrpSpPr>
        <p:grpSpPr>
          <a:xfrm rot="-10800000">
            <a:off x="-1942699" y="2567721"/>
            <a:ext cx="2374135" cy="2374135"/>
            <a:chOff x="0" y="0"/>
            <a:chExt cx="812800" cy="812800"/>
          </a:xfrm>
        </p:grpSpPr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66115235-DF53-A1F2-2D2A-010A39DA79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25">
              <a:extLst>
                <a:ext uri="{FF2B5EF4-FFF2-40B4-BE49-F238E27FC236}">
                  <a16:creationId xmlns:a16="http://schemas.microsoft.com/office/drawing/2014/main" id="{EA2D0D4E-4309-1A46-A04F-C727E135DBCE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Freeform 15">
            <a:extLst>
              <a:ext uri="{FF2B5EF4-FFF2-40B4-BE49-F238E27FC236}">
                <a16:creationId xmlns:a16="http://schemas.microsoft.com/office/drawing/2014/main" id="{878D30CB-3416-5BE5-E97A-C0E92BCF800F}"/>
              </a:ext>
            </a:extLst>
          </p:cNvPr>
          <p:cNvSpPr/>
          <p:nvPr/>
        </p:nvSpPr>
        <p:spPr>
          <a:xfrm>
            <a:off x="-1942699" y="2866936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46" name="Group 11">
            <a:extLst>
              <a:ext uri="{FF2B5EF4-FFF2-40B4-BE49-F238E27FC236}">
                <a16:creationId xmlns:a16="http://schemas.microsoft.com/office/drawing/2014/main" id="{51BE72F9-0397-9344-4AAD-E9C71619F778}"/>
              </a:ext>
            </a:extLst>
          </p:cNvPr>
          <p:cNvGrpSpPr/>
          <p:nvPr/>
        </p:nvGrpSpPr>
        <p:grpSpPr>
          <a:xfrm>
            <a:off x="960807" y="2769459"/>
            <a:ext cx="7789015" cy="926241"/>
            <a:chOff x="0" y="0"/>
            <a:chExt cx="1389146" cy="425564"/>
          </a:xfrm>
        </p:grpSpPr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3B9C20A9-DC60-D3F1-9431-A5F30FB87EAD}"/>
                </a:ext>
              </a:extLst>
            </p:cNvPr>
            <p:cNvSpPr/>
            <p:nvPr/>
          </p:nvSpPr>
          <p:spPr>
            <a:xfrm>
              <a:off x="0" y="0"/>
              <a:ext cx="1389146" cy="425564"/>
            </a:xfrm>
            <a:custGeom>
              <a:avLst/>
              <a:gdLst/>
              <a:ahLst/>
              <a:cxnLst/>
              <a:rect l="l" t="t" r="r" b="b"/>
              <a:pathLst>
                <a:path w="1389146" h="425564">
                  <a:moveTo>
                    <a:pt x="0" y="0"/>
                  </a:moveTo>
                  <a:lnTo>
                    <a:pt x="1389146" y="0"/>
                  </a:lnTo>
                  <a:lnTo>
                    <a:pt x="1389146" y="425564"/>
                  </a:lnTo>
                  <a:lnTo>
                    <a:pt x="0" y="425564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13">
              <a:extLst>
                <a:ext uri="{FF2B5EF4-FFF2-40B4-BE49-F238E27FC236}">
                  <a16:creationId xmlns:a16="http://schemas.microsoft.com/office/drawing/2014/main" id="{9DB46198-32CF-648C-BCCD-4E22CAAD2342}"/>
                </a:ext>
              </a:extLst>
            </p:cNvPr>
            <p:cNvSpPr txBox="1"/>
            <p:nvPr/>
          </p:nvSpPr>
          <p:spPr>
            <a:xfrm>
              <a:off x="0" y="-47625"/>
              <a:ext cx="1389146" cy="473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5" name="TextBox 21">
            <a:extLst>
              <a:ext uri="{FF2B5EF4-FFF2-40B4-BE49-F238E27FC236}">
                <a16:creationId xmlns:a16="http://schemas.microsoft.com/office/drawing/2014/main" id="{B295EC25-054C-0D42-A7DE-1E1654A37112}"/>
              </a:ext>
            </a:extLst>
          </p:cNvPr>
          <p:cNvSpPr txBox="1"/>
          <p:nvPr/>
        </p:nvSpPr>
        <p:spPr>
          <a:xfrm>
            <a:off x="1113207" y="2552700"/>
            <a:ext cx="5222535" cy="90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640"/>
              </a:lnSpc>
              <a:spcBef>
                <a:spcPct val="0"/>
              </a:spcBef>
            </a:pPr>
            <a:r>
              <a:rPr lang="en-US" sz="2800" b="1" u="none" strike="noStrike" dirty="0">
                <a:solidFill>
                  <a:srgbClr val="FFFFFF"/>
                </a:solidFill>
                <a:latin typeface="Proxima Nova" panose="020B0604020202020204" charset="0"/>
                <a:ea typeface="Oswald"/>
                <a:cs typeface="Oswald"/>
                <a:sym typeface="Oswald"/>
              </a:rPr>
              <a:t>Policy Management</a:t>
            </a:r>
          </a:p>
        </p:txBody>
      </p:sp>
      <p:grpSp>
        <p:nvGrpSpPr>
          <p:cNvPr id="33" name="Group 23">
            <a:extLst>
              <a:ext uri="{FF2B5EF4-FFF2-40B4-BE49-F238E27FC236}">
                <a16:creationId xmlns:a16="http://schemas.microsoft.com/office/drawing/2014/main" id="{50F095ED-A888-0697-A966-3557E8C8970C}"/>
              </a:ext>
            </a:extLst>
          </p:cNvPr>
          <p:cNvGrpSpPr/>
          <p:nvPr/>
        </p:nvGrpSpPr>
        <p:grpSpPr>
          <a:xfrm rot="-10800000">
            <a:off x="16072232" y="9264119"/>
            <a:ext cx="2374135" cy="2374135"/>
            <a:chOff x="0" y="0"/>
            <a:chExt cx="812800" cy="812800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BF2CFA0F-8014-C101-3AE2-8F2B2CB5756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25">
              <a:extLst>
                <a:ext uri="{FF2B5EF4-FFF2-40B4-BE49-F238E27FC236}">
                  <a16:creationId xmlns:a16="http://schemas.microsoft.com/office/drawing/2014/main" id="{63A2CB13-57CA-6BEC-8740-D169F4BA777D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6" name="Freeform 15">
            <a:extLst>
              <a:ext uri="{FF2B5EF4-FFF2-40B4-BE49-F238E27FC236}">
                <a16:creationId xmlns:a16="http://schemas.microsoft.com/office/drawing/2014/main" id="{600D1DE8-BDC9-B20C-41CA-58AC99D75C65}"/>
              </a:ext>
            </a:extLst>
          </p:cNvPr>
          <p:cNvSpPr/>
          <p:nvPr/>
        </p:nvSpPr>
        <p:spPr>
          <a:xfrm>
            <a:off x="16072232" y="9563334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E31BD2-FC3F-BF3C-DE9E-E88FDB9D1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" t="23437" r="81771" b="23437"/>
          <a:stretch>
            <a:fillRect/>
          </a:stretch>
        </p:blipFill>
        <p:spPr>
          <a:xfrm>
            <a:off x="10026854" y="2672805"/>
            <a:ext cx="3243081" cy="71138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7DA18E-30CC-E766-563F-AA25B0FB7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8" t="23437" r="49136" b="23437"/>
          <a:stretch>
            <a:fillRect/>
          </a:stretch>
        </p:blipFill>
        <p:spPr>
          <a:xfrm>
            <a:off x="13437641" y="2665803"/>
            <a:ext cx="3243125" cy="7113855"/>
          </a:xfrm>
          <a:prstGeom prst="rect">
            <a:avLst/>
          </a:prstGeom>
        </p:spPr>
      </p:pic>
      <p:grpSp>
        <p:nvGrpSpPr>
          <p:cNvPr id="18" name="Group 18">
            <a:extLst>
              <a:ext uri="{FF2B5EF4-FFF2-40B4-BE49-F238E27FC236}">
                <a16:creationId xmlns:a16="http://schemas.microsoft.com/office/drawing/2014/main" id="{6F7B6515-9C95-8CB4-F7EE-961BAC3D5B6D}"/>
              </a:ext>
            </a:extLst>
          </p:cNvPr>
          <p:cNvGrpSpPr/>
          <p:nvPr/>
        </p:nvGrpSpPr>
        <p:grpSpPr>
          <a:xfrm rot="-10800000">
            <a:off x="11672040" y="9525234"/>
            <a:ext cx="3396023" cy="3396023"/>
            <a:chOff x="0" y="0"/>
            <a:chExt cx="812800" cy="81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968A9DC-6503-C569-8075-7B87F3DAC88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E1FEAA03-5549-0F10-7740-F4F18A82276A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9583CE7-2BEF-4812-7973-8722FA8941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22154"/>
          <a:stretch>
            <a:fillRect/>
          </a:stretch>
        </p:blipFill>
        <p:spPr>
          <a:xfrm>
            <a:off x="14102968" y="4067758"/>
            <a:ext cx="2051432" cy="60515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68953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C6A43-B79A-FCA4-FE4F-9DE1BB5C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F09AAE8-25F8-E920-D5B3-65B7EDD20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3" t="23090" r="65522" b="23784"/>
          <a:stretch>
            <a:fillRect/>
          </a:stretch>
        </p:blipFill>
        <p:spPr>
          <a:xfrm>
            <a:off x="11133119" y="1395522"/>
            <a:ext cx="3990570" cy="8753509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89E38955-3D53-10A4-B674-7EA41620AF6B}"/>
              </a:ext>
            </a:extLst>
          </p:cNvPr>
          <p:cNvGrpSpPr/>
          <p:nvPr/>
        </p:nvGrpSpPr>
        <p:grpSpPr>
          <a:xfrm>
            <a:off x="1028700" y="2866936"/>
            <a:ext cx="7734300" cy="4860200"/>
            <a:chOff x="0" y="0"/>
            <a:chExt cx="1389146" cy="18037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B9FA16-E764-EDA5-18AA-CEAA51069F35}"/>
                </a:ext>
              </a:extLst>
            </p:cNvPr>
            <p:cNvSpPr/>
            <p:nvPr/>
          </p:nvSpPr>
          <p:spPr>
            <a:xfrm>
              <a:off x="0" y="0"/>
              <a:ext cx="1389146" cy="1803714"/>
            </a:xfrm>
            <a:custGeom>
              <a:avLst/>
              <a:gdLst/>
              <a:ahLst/>
              <a:cxnLst/>
              <a:rect l="l" t="t" r="r" b="b"/>
              <a:pathLst>
                <a:path w="1389146" h="1803714">
                  <a:moveTo>
                    <a:pt x="0" y="0"/>
                  </a:moveTo>
                  <a:lnTo>
                    <a:pt x="1389146" y="0"/>
                  </a:lnTo>
                  <a:lnTo>
                    <a:pt x="1389146" y="1803714"/>
                  </a:lnTo>
                  <a:lnTo>
                    <a:pt x="0" y="1803714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EB587C7-8F38-6F81-2D18-493E1DFC32CA}"/>
                </a:ext>
              </a:extLst>
            </p:cNvPr>
            <p:cNvSpPr txBox="1"/>
            <p:nvPr/>
          </p:nvSpPr>
          <p:spPr>
            <a:xfrm>
              <a:off x="0" y="-47625"/>
              <a:ext cx="1389146" cy="1851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C2C1A54-0200-8B53-411C-8C58A2C0DE85}"/>
              </a:ext>
            </a:extLst>
          </p:cNvPr>
          <p:cNvGrpSpPr/>
          <p:nvPr/>
        </p:nvGrpSpPr>
        <p:grpSpPr>
          <a:xfrm>
            <a:off x="1028700" y="2756167"/>
            <a:ext cx="7734300" cy="926241"/>
            <a:chOff x="0" y="0"/>
            <a:chExt cx="1389146" cy="42556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DBB38BF-C478-F322-98D6-A08A468308B2}"/>
                </a:ext>
              </a:extLst>
            </p:cNvPr>
            <p:cNvSpPr/>
            <p:nvPr/>
          </p:nvSpPr>
          <p:spPr>
            <a:xfrm>
              <a:off x="0" y="0"/>
              <a:ext cx="1389146" cy="425564"/>
            </a:xfrm>
            <a:custGeom>
              <a:avLst/>
              <a:gdLst/>
              <a:ahLst/>
              <a:cxnLst/>
              <a:rect l="l" t="t" r="r" b="b"/>
              <a:pathLst>
                <a:path w="1389146" h="425564">
                  <a:moveTo>
                    <a:pt x="0" y="0"/>
                  </a:moveTo>
                  <a:lnTo>
                    <a:pt x="1389146" y="0"/>
                  </a:lnTo>
                  <a:lnTo>
                    <a:pt x="1389146" y="425564"/>
                  </a:lnTo>
                  <a:lnTo>
                    <a:pt x="0" y="425564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47558A8-3421-18FB-7077-9D3F24DCC6BE}"/>
                </a:ext>
              </a:extLst>
            </p:cNvPr>
            <p:cNvSpPr txBox="1"/>
            <p:nvPr/>
          </p:nvSpPr>
          <p:spPr>
            <a:xfrm>
              <a:off x="0" y="-47625"/>
              <a:ext cx="1389146" cy="473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F286DD3-0BB2-3DBF-9EBF-2CFE660367FB}"/>
              </a:ext>
            </a:extLst>
          </p:cNvPr>
          <p:cNvGrpSpPr/>
          <p:nvPr/>
        </p:nvGrpSpPr>
        <p:grpSpPr>
          <a:xfrm rot="-10800000">
            <a:off x="7127382" y="-1698012"/>
            <a:ext cx="3396023" cy="3396023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1C7C83D-F557-D0A4-490E-3F575F1AC5F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D6C5CD33-E8A8-ED93-6B66-FDFDE23B4ABA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19D7D4D7-A08B-26EA-7959-AFE3900FC5E4}"/>
              </a:ext>
            </a:extLst>
          </p:cNvPr>
          <p:cNvSpPr txBox="1"/>
          <p:nvPr/>
        </p:nvSpPr>
        <p:spPr>
          <a:xfrm>
            <a:off x="1121726" y="2559864"/>
            <a:ext cx="5222535" cy="90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640"/>
              </a:lnSpc>
              <a:spcBef>
                <a:spcPct val="0"/>
              </a:spcBef>
            </a:pPr>
            <a:r>
              <a:rPr lang="en-US" sz="2800" b="1" u="none" strike="noStrike" dirty="0">
                <a:solidFill>
                  <a:srgbClr val="FFFFFF"/>
                </a:solidFill>
                <a:latin typeface="Proxima Nova" panose="020B0604020202020204" charset="0"/>
                <a:ea typeface="Oswald"/>
                <a:cs typeface="Oswald"/>
                <a:sym typeface="Oswald"/>
              </a:rPr>
              <a:t>Premium Payment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6B27849-63EB-249D-FBA4-428FF9AA7E94}"/>
              </a:ext>
            </a:extLst>
          </p:cNvPr>
          <p:cNvSpPr txBox="1"/>
          <p:nvPr/>
        </p:nvSpPr>
        <p:spPr>
          <a:xfrm>
            <a:off x="1294374" y="3901191"/>
            <a:ext cx="7202951" cy="3600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Pay premiums online </a:t>
            </a:r>
          </a:p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(credit card / debit card)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Auto payment option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Payment history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Download premium receipts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B8E9D2D7-B9A4-5DA7-6A49-CFBFD714F890}"/>
              </a:ext>
            </a:extLst>
          </p:cNvPr>
          <p:cNvSpPr txBox="1"/>
          <p:nvPr/>
        </p:nvSpPr>
        <p:spPr>
          <a:xfrm>
            <a:off x="501018" y="1197463"/>
            <a:ext cx="17754600" cy="145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1966"/>
              </a:lnSpc>
              <a:spcBef>
                <a:spcPct val="0"/>
              </a:spcBef>
            </a:pPr>
            <a:r>
              <a:rPr lang="en-US" sz="9972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VIP Wallet Overview</a:t>
            </a:r>
          </a:p>
        </p:txBody>
      </p:sp>
      <p:grpSp>
        <p:nvGrpSpPr>
          <p:cNvPr id="29" name="Group 23">
            <a:extLst>
              <a:ext uri="{FF2B5EF4-FFF2-40B4-BE49-F238E27FC236}">
                <a16:creationId xmlns:a16="http://schemas.microsoft.com/office/drawing/2014/main" id="{F11B1086-674D-28EB-0846-4AC6A3041B97}"/>
              </a:ext>
            </a:extLst>
          </p:cNvPr>
          <p:cNvGrpSpPr/>
          <p:nvPr/>
        </p:nvGrpSpPr>
        <p:grpSpPr>
          <a:xfrm rot="-10800000">
            <a:off x="-1942699" y="2567721"/>
            <a:ext cx="2374135" cy="2374135"/>
            <a:chOff x="0" y="0"/>
            <a:chExt cx="812800" cy="812800"/>
          </a:xfrm>
        </p:grpSpPr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AE1B188F-8C66-3531-02D5-BBAD2F26B6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25">
              <a:extLst>
                <a:ext uri="{FF2B5EF4-FFF2-40B4-BE49-F238E27FC236}">
                  <a16:creationId xmlns:a16="http://schemas.microsoft.com/office/drawing/2014/main" id="{FDE1EDE4-9E17-4D6E-1186-F99651FBEE6E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Freeform 15">
            <a:extLst>
              <a:ext uri="{FF2B5EF4-FFF2-40B4-BE49-F238E27FC236}">
                <a16:creationId xmlns:a16="http://schemas.microsoft.com/office/drawing/2014/main" id="{1DC7D075-EF15-2CB2-36DD-D9EE9C1BC69B}"/>
              </a:ext>
            </a:extLst>
          </p:cNvPr>
          <p:cNvSpPr/>
          <p:nvPr/>
        </p:nvSpPr>
        <p:spPr>
          <a:xfrm>
            <a:off x="-1942699" y="2866936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33" name="Group 23">
            <a:extLst>
              <a:ext uri="{FF2B5EF4-FFF2-40B4-BE49-F238E27FC236}">
                <a16:creationId xmlns:a16="http://schemas.microsoft.com/office/drawing/2014/main" id="{7FF1ECB0-13D1-D783-6F3B-D39F21A06A91}"/>
              </a:ext>
            </a:extLst>
          </p:cNvPr>
          <p:cNvGrpSpPr/>
          <p:nvPr/>
        </p:nvGrpSpPr>
        <p:grpSpPr>
          <a:xfrm rot="-10800000">
            <a:off x="16072232" y="9105901"/>
            <a:ext cx="2374135" cy="2374135"/>
            <a:chOff x="0" y="0"/>
            <a:chExt cx="812800" cy="812800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F7990959-D68E-11A8-DDD4-70BAAC41409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25">
              <a:extLst>
                <a:ext uri="{FF2B5EF4-FFF2-40B4-BE49-F238E27FC236}">
                  <a16:creationId xmlns:a16="http://schemas.microsoft.com/office/drawing/2014/main" id="{BF006EBE-0165-56E4-5DBA-BEFB32F251A1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6" name="Freeform 15">
            <a:extLst>
              <a:ext uri="{FF2B5EF4-FFF2-40B4-BE49-F238E27FC236}">
                <a16:creationId xmlns:a16="http://schemas.microsoft.com/office/drawing/2014/main" id="{E6BD28FC-D128-2F7F-A563-5AA84748C327}"/>
              </a:ext>
            </a:extLst>
          </p:cNvPr>
          <p:cNvSpPr/>
          <p:nvPr/>
        </p:nvSpPr>
        <p:spPr>
          <a:xfrm>
            <a:off x="16072232" y="9405116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5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ECED2-3D0B-BC2E-4BD7-BE84071C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F0401F-8154-BDA6-C949-8C42577C2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02" t="23468" r="18034" b="22656"/>
          <a:stretch>
            <a:fillRect/>
          </a:stretch>
        </p:blipFill>
        <p:spPr>
          <a:xfrm>
            <a:off x="10510983" y="1645432"/>
            <a:ext cx="6747563" cy="7801835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CEC56055-6690-1F46-7E0A-4950E363EDCA}"/>
              </a:ext>
            </a:extLst>
          </p:cNvPr>
          <p:cNvGrpSpPr/>
          <p:nvPr/>
        </p:nvGrpSpPr>
        <p:grpSpPr>
          <a:xfrm>
            <a:off x="457200" y="2866936"/>
            <a:ext cx="8686800" cy="6391364"/>
            <a:chOff x="0" y="0"/>
            <a:chExt cx="1389146" cy="18037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03BE122-7A2A-6BE3-E012-9DBDE2C26FAE}"/>
                </a:ext>
              </a:extLst>
            </p:cNvPr>
            <p:cNvSpPr/>
            <p:nvPr/>
          </p:nvSpPr>
          <p:spPr>
            <a:xfrm>
              <a:off x="0" y="0"/>
              <a:ext cx="1389146" cy="1803714"/>
            </a:xfrm>
            <a:custGeom>
              <a:avLst/>
              <a:gdLst/>
              <a:ahLst/>
              <a:cxnLst/>
              <a:rect l="l" t="t" r="r" b="b"/>
              <a:pathLst>
                <a:path w="1389146" h="1803714">
                  <a:moveTo>
                    <a:pt x="0" y="0"/>
                  </a:moveTo>
                  <a:lnTo>
                    <a:pt x="1389146" y="0"/>
                  </a:lnTo>
                  <a:lnTo>
                    <a:pt x="1389146" y="1803714"/>
                  </a:lnTo>
                  <a:lnTo>
                    <a:pt x="0" y="1803714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B891F97-0732-7264-83C7-A900E558295D}"/>
                </a:ext>
              </a:extLst>
            </p:cNvPr>
            <p:cNvSpPr txBox="1"/>
            <p:nvPr/>
          </p:nvSpPr>
          <p:spPr>
            <a:xfrm>
              <a:off x="0" y="-47625"/>
              <a:ext cx="1389146" cy="1851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11D1BCC-29F0-54B0-C7DC-7DD3223EB313}"/>
              </a:ext>
            </a:extLst>
          </p:cNvPr>
          <p:cNvGrpSpPr/>
          <p:nvPr/>
        </p:nvGrpSpPr>
        <p:grpSpPr>
          <a:xfrm rot="-10800000">
            <a:off x="6934200" y="-2905010"/>
            <a:ext cx="3396023" cy="3396023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36DDE08-7840-A382-48D9-D88F1AE6592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F550A55-13F9-3A03-EBDA-0BF8A4482729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39181BE2-1195-DC72-D3AF-5E4762EF906B}"/>
              </a:ext>
            </a:extLst>
          </p:cNvPr>
          <p:cNvSpPr txBox="1"/>
          <p:nvPr/>
        </p:nvSpPr>
        <p:spPr>
          <a:xfrm>
            <a:off x="1016325" y="4054003"/>
            <a:ext cx="8356275" cy="5077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Submit claims through the app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Upload documents &amp; photos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Track Assessor or Assign to Call Center 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Track claim status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Notifications when claim progress updates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Claim payment process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Claim history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D39B1CB0-AB45-5AE2-25C9-290878AC441A}"/>
              </a:ext>
            </a:extLst>
          </p:cNvPr>
          <p:cNvSpPr txBox="1"/>
          <p:nvPr/>
        </p:nvSpPr>
        <p:spPr>
          <a:xfrm>
            <a:off x="501018" y="1197463"/>
            <a:ext cx="17754600" cy="145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1966"/>
              </a:lnSpc>
              <a:spcBef>
                <a:spcPct val="0"/>
              </a:spcBef>
            </a:pPr>
            <a:r>
              <a:rPr lang="en-US" sz="9972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VIP Wallet Overview</a:t>
            </a:r>
          </a:p>
        </p:txBody>
      </p:sp>
      <p:grpSp>
        <p:nvGrpSpPr>
          <p:cNvPr id="29" name="Group 23">
            <a:extLst>
              <a:ext uri="{FF2B5EF4-FFF2-40B4-BE49-F238E27FC236}">
                <a16:creationId xmlns:a16="http://schemas.microsoft.com/office/drawing/2014/main" id="{B506340F-1AD8-73F3-FCB3-F3DEE3873589}"/>
              </a:ext>
            </a:extLst>
          </p:cNvPr>
          <p:cNvGrpSpPr/>
          <p:nvPr/>
        </p:nvGrpSpPr>
        <p:grpSpPr>
          <a:xfrm rot="-10800000">
            <a:off x="-1942699" y="2567721"/>
            <a:ext cx="2374135" cy="2374135"/>
            <a:chOff x="0" y="0"/>
            <a:chExt cx="812800" cy="812800"/>
          </a:xfrm>
        </p:grpSpPr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D15A959-5119-F510-7D16-8FFD2B7B25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25">
              <a:extLst>
                <a:ext uri="{FF2B5EF4-FFF2-40B4-BE49-F238E27FC236}">
                  <a16:creationId xmlns:a16="http://schemas.microsoft.com/office/drawing/2014/main" id="{4B375A9B-F3AE-03E5-56B5-4834F74BC18C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Freeform 15">
            <a:extLst>
              <a:ext uri="{FF2B5EF4-FFF2-40B4-BE49-F238E27FC236}">
                <a16:creationId xmlns:a16="http://schemas.microsoft.com/office/drawing/2014/main" id="{36C004D1-70C2-CCE7-CA82-DA8D04093E8C}"/>
              </a:ext>
            </a:extLst>
          </p:cNvPr>
          <p:cNvSpPr/>
          <p:nvPr/>
        </p:nvSpPr>
        <p:spPr>
          <a:xfrm>
            <a:off x="-1942699" y="2866936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33" name="Group 23">
            <a:extLst>
              <a:ext uri="{FF2B5EF4-FFF2-40B4-BE49-F238E27FC236}">
                <a16:creationId xmlns:a16="http://schemas.microsoft.com/office/drawing/2014/main" id="{42F98E25-3604-DD94-C2CE-AABCB7D39FAB}"/>
              </a:ext>
            </a:extLst>
          </p:cNvPr>
          <p:cNvGrpSpPr/>
          <p:nvPr/>
        </p:nvGrpSpPr>
        <p:grpSpPr>
          <a:xfrm rot="-10800000">
            <a:off x="16072232" y="9264119"/>
            <a:ext cx="2374135" cy="2374135"/>
            <a:chOff x="0" y="0"/>
            <a:chExt cx="812800" cy="812800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D6A252FB-0103-71A4-B45B-C67FA0F5DB9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25">
              <a:extLst>
                <a:ext uri="{FF2B5EF4-FFF2-40B4-BE49-F238E27FC236}">
                  <a16:creationId xmlns:a16="http://schemas.microsoft.com/office/drawing/2014/main" id="{4394CBA2-D908-6375-E6B1-AA40ED39C0D7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6" name="Freeform 15">
            <a:extLst>
              <a:ext uri="{FF2B5EF4-FFF2-40B4-BE49-F238E27FC236}">
                <a16:creationId xmlns:a16="http://schemas.microsoft.com/office/drawing/2014/main" id="{CA9F3EE7-9AB5-9D2B-DA77-CFD50BC1DEFE}"/>
              </a:ext>
            </a:extLst>
          </p:cNvPr>
          <p:cNvSpPr/>
          <p:nvPr/>
        </p:nvSpPr>
        <p:spPr>
          <a:xfrm>
            <a:off x="16072232" y="9563334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46" name="Group 11">
            <a:extLst>
              <a:ext uri="{FF2B5EF4-FFF2-40B4-BE49-F238E27FC236}">
                <a16:creationId xmlns:a16="http://schemas.microsoft.com/office/drawing/2014/main" id="{23E9571A-6B60-4EAA-63B2-6ACF598165DA}"/>
              </a:ext>
            </a:extLst>
          </p:cNvPr>
          <p:cNvGrpSpPr/>
          <p:nvPr/>
        </p:nvGrpSpPr>
        <p:grpSpPr>
          <a:xfrm>
            <a:off x="579807" y="2769459"/>
            <a:ext cx="8564193" cy="926241"/>
            <a:chOff x="0" y="0"/>
            <a:chExt cx="1389146" cy="425564"/>
          </a:xfrm>
        </p:grpSpPr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2FCA8486-3FCD-4C2F-630A-537107165530}"/>
                </a:ext>
              </a:extLst>
            </p:cNvPr>
            <p:cNvSpPr/>
            <p:nvPr/>
          </p:nvSpPr>
          <p:spPr>
            <a:xfrm>
              <a:off x="0" y="0"/>
              <a:ext cx="1389146" cy="425564"/>
            </a:xfrm>
            <a:custGeom>
              <a:avLst/>
              <a:gdLst/>
              <a:ahLst/>
              <a:cxnLst/>
              <a:rect l="l" t="t" r="r" b="b"/>
              <a:pathLst>
                <a:path w="1389146" h="425564">
                  <a:moveTo>
                    <a:pt x="0" y="0"/>
                  </a:moveTo>
                  <a:lnTo>
                    <a:pt x="1389146" y="0"/>
                  </a:lnTo>
                  <a:lnTo>
                    <a:pt x="1389146" y="425564"/>
                  </a:lnTo>
                  <a:lnTo>
                    <a:pt x="0" y="425564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13">
              <a:extLst>
                <a:ext uri="{FF2B5EF4-FFF2-40B4-BE49-F238E27FC236}">
                  <a16:creationId xmlns:a16="http://schemas.microsoft.com/office/drawing/2014/main" id="{C21DB0DF-78CB-AEEC-7BF7-9074270CAD01}"/>
                </a:ext>
              </a:extLst>
            </p:cNvPr>
            <p:cNvSpPr txBox="1"/>
            <p:nvPr/>
          </p:nvSpPr>
          <p:spPr>
            <a:xfrm>
              <a:off x="0" y="-47625"/>
              <a:ext cx="1389146" cy="473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5" name="TextBox 21">
            <a:extLst>
              <a:ext uri="{FF2B5EF4-FFF2-40B4-BE49-F238E27FC236}">
                <a16:creationId xmlns:a16="http://schemas.microsoft.com/office/drawing/2014/main" id="{59E7DD32-EF39-186A-BD42-94CC8F4CACB6}"/>
              </a:ext>
            </a:extLst>
          </p:cNvPr>
          <p:cNvSpPr txBox="1"/>
          <p:nvPr/>
        </p:nvSpPr>
        <p:spPr>
          <a:xfrm>
            <a:off x="732207" y="2552700"/>
            <a:ext cx="5222535" cy="90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640"/>
              </a:lnSpc>
              <a:spcBef>
                <a:spcPct val="0"/>
              </a:spcBef>
            </a:pPr>
            <a:r>
              <a:rPr lang="en-US" sz="2800" b="1" u="none" strike="noStrike" dirty="0">
                <a:solidFill>
                  <a:srgbClr val="FFFFFF"/>
                </a:solidFill>
                <a:latin typeface="Proxima Nova" panose="020B0604020202020204" charset="0"/>
                <a:ea typeface="Oswald"/>
                <a:cs typeface="Oswald"/>
                <a:sym typeface="Oswald"/>
              </a:rPr>
              <a:t>Claims Management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B8A06738-5ED9-F760-9AD1-ED184FF98107}"/>
              </a:ext>
            </a:extLst>
          </p:cNvPr>
          <p:cNvGrpSpPr/>
          <p:nvPr/>
        </p:nvGrpSpPr>
        <p:grpSpPr>
          <a:xfrm rot="-10800000">
            <a:off x="16589988" y="8242232"/>
            <a:ext cx="3396023" cy="3396023"/>
            <a:chOff x="0" y="0"/>
            <a:chExt cx="812800" cy="81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3755AD6-B29F-5CF5-ADCE-4978527E62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1BAD2F91-DD4F-13E4-FD44-2E8E45166CC9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9338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AA8E-45F8-4698-8C99-817F27262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4145DE-B3D7-07BF-3D0E-5F6B89DD4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86" t="23468" r="33451" b="24444"/>
          <a:stretch>
            <a:fillRect/>
          </a:stretch>
        </p:blipFill>
        <p:spPr>
          <a:xfrm>
            <a:off x="11318758" y="1523430"/>
            <a:ext cx="3803982" cy="8711759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FB20DCD4-3BDC-2DC0-0385-BB688B3437B6}"/>
              </a:ext>
            </a:extLst>
          </p:cNvPr>
          <p:cNvGrpSpPr/>
          <p:nvPr/>
        </p:nvGrpSpPr>
        <p:grpSpPr>
          <a:xfrm>
            <a:off x="1028700" y="3060413"/>
            <a:ext cx="7734300" cy="3835687"/>
            <a:chOff x="0" y="0"/>
            <a:chExt cx="1389146" cy="18037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5DB756-A4B7-666C-A300-E9741E341E9A}"/>
                </a:ext>
              </a:extLst>
            </p:cNvPr>
            <p:cNvSpPr/>
            <p:nvPr/>
          </p:nvSpPr>
          <p:spPr>
            <a:xfrm>
              <a:off x="0" y="0"/>
              <a:ext cx="1389146" cy="1803714"/>
            </a:xfrm>
            <a:custGeom>
              <a:avLst/>
              <a:gdLst/>
              <a:ahLst/>
              <a:cxnLst/>
              <a:rect l="l" t="t" r="r" b="b"/>
              <a:pathLst>
                <a:path w="1389146" h="1803714">
                  <a:moveTo>
                    <a:pt x="0" y="0"/>
                  </a:moveTo>
                  <a:lnTo>
                    <a:pt x="1389146" y="0"/>
                  </a:lnTo>
                  <a:lnTo>
                    <a:pt x="1389146" y="1803714"/>
                  </a:lnTo>
                  <a:lnTo>
                    <a:pt x="0" y="1803714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6AB70FC-73EE-E1C5-867F-24CA731E7470}"/>
                </a:ext>
              </a:extLst>
            </p:cNvPr>
            <p:cNvSpPr txBox="1"/>
            <p:nvPr/>
          </p:nvSpPr>
          <p:spPr>
            <a:xfrm>
              <a:off x="0" y="-47625"/>
              <a:ext cx="1389146" cy="1851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8210181-4FD1-FF77-CB09-3B403EBCEFDB}"/>
              </a:ext>
            </a:extLst>
          </p:cNvPr>
          <p:cNvGrpSpPr/>
          <p:nvPr/>
        </p:nvGrpSpPr>
        <p:grpSpPr>
          <a:xfrm>
            <a:off x="1028700" y="2756167"/>
            <a:ext cx="7734300" cy="926241"/>
            <a:chOff x="0" y="0"/>
            <a:chExt cx="1389146" cy="42556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6EF7A15-532F-AE3A-6F7D-C78D969B1308}"/>
                </a:ext>
              </a:extLst>
            </p:cNvPr>
            <p:cNvSpPr/>
            <p:nvPr/>
          </p:nvSpPr>
          <p:spPr>
            <a:xfrm>
              <a:off x="0" y="0"/>
              <a:ext cx="1389146" cy="425564"/>
            </a:xfrm>
            <a:custGeom>
              <a:avLst/>
              <a:gdLst/>
              <a:ahLst/>
              <a:cxnLst/>
              <a:rect l="l" t="t" r="r" b="b"/>
              <a:pathLst>
                <a:path w="1389146" h="425564">
                  <a:moveTo>
                    <a:pt x="0" y="0"/>
                  </a:moveTo>
                  <a:lnTo>
                    <a:pt x="1389146" y="0"/>
                  </a:lnTo>
                  <a:lnTo>
                    <a:pt x="1389146" y="425564"/>
                  </a:lnTo>
                  <a:lnTo>
                    <a:pt x="0" y="425564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9B56E25-2C8C-1A95-45C5-304FCB4F1671}"/>
                </a:ext>
              </a:extLst>
            </p:cNvPr>
            <p:cNvSpPr txBox="1"/>
            <p:nvPr/>
          </p:nvSpPr>
          <p:spPr>
            <a:xfrm>
              <a:off x="0" y="-47625"/>
              <a:ext cx="1389146" cy="473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48BFD5B-28C0-66F6-B485-1C3EDD55777E}"/>
              </a:ext>
            </a:extLst>
          </p:cNvPr>
          <p:cNvGrpSpPr/>
          <p:nvPr/>
        </p:nvGrpSpPr>
        <p:grpSpPr>
          <a:xfrm rot="-10800000">
            <a:off x="7127382" y="-1698012"/>
            <a:ext cx="3396023" cy="3396023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8C0A091-0C45-E26F-6DEA-E525A11EDC6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0BD02E68-17B2-BC2E-E36F-5637163B3EC6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33DB0268-7DF4-E7CC-E66B-3F5576C9C623}"/>
              </a:ext>
            </a:extLst>
          </p:cNvPr>
          <p:cNvSpPr txBox="1"/>
          <p:nvPr/>
        </p:nvSpPr>
        <p:spPr>
          <a:xfrm>
            <a:off x="1121726" y="2559864"/>
            <a:ext cx="5222535" cy="90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640"/>
              </a:lnSpc>
              <a:spcBef>
                <a:spcPct val="0"/>
              </a:spcBef>
            </a:pPr>
            <a:r>
              <a:rPr lang="en-US" sz="2800" b="1" u="none" strike="noStrike" dirty="0">
                <a:solidFill>
                  <a:srgbClr val="FFFFFF"/>
                </a:solidFill>
                <a:latin typeface="Proxima Nova" panose="020B0604020202020204" charset="0"/>
                <a:ea typeface="Oswald"/>
                <a:cs typeface="Oswald"/>
                <a:sym typeface="Oswald"/>
              </a:rPr>
              <a:t>Notifications &amp; Alerts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FDFBEA0-5611-58C6-6C61-7430814B66A2}"/>
              </a:ext>
            </a:extLst>
          </p:cNvPr>
          <p:cNvSpPr txBox="1"/>
          <p:nvPr/>
        </p:nvSpPr>
        <p:spPr>
          <a:xfrm>
            <a:off x="1527965" y="3952992"/>
            <a:ext cx="7202951" cy="2861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Premium due reminders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Policy renewal alerts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Claim updates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Promotional offers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905EF7B5-C911-A34E-BB00-CDEF5AC9900B}"/>
              </a:ext>
            </a:extLst>
          </p:cNvPr>
          <p:cNvSpPr txBox="1"/>
          <p:nvPr/>
        </p:nvSpPr>
        <p:spPr>
          <a:xfrm>
            <a:off x="501018" y="1197463"/>
            <a:ext cx="17754600" cy="145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1966"/>
              </a:lnSpc>
              <a:spcBef>
                <a:spcPct val="0"/>
              </a:spcBef>
            </a:pPr>
            <a:r>
              <a:rPr lang="en-US" sz="9972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VIP Wallet Overview</a:t>
            </a:r>
          </a:p>
        </p:txBody>
      </p:sp>
      <p:grpSp>
        <p:nvGrpSpPr>
          <p:cNvPr id="29" name="Group 23">
            <a:extLst>
              <a:ext uri="{FF2B5EF4-FFF2-40B4-BE49-F238E27FC236}">
                <a16:creationId xmlns:a16="http://schemas.microsoft.com/office/drawing/2014/main" id="{45EC6E59-9E19-E23C-FCB7-CBF3509A6736}"/>
              </a:ext>
            </a:extLst>
          </p:cNvPr>
          <p:cNvGrpSpPr/>
          <p:nvPr/>
        </p:nvGrpSpPr>
        <p:grpSpPr>
          <a:xfrm rot="-10800000">
            <a:off x="-1942699" y="2567721"/>
            <a:ext cx="2374135" cy="2374135"/>
            <a:chOff x="0" y="0"/>
            <a:chExt cx="812800" cy="812800"/>
          </a:xfrm>
        </p:grpSpPr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CDF47B2F-7570-5F8B-2670-0744F418AA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25">
              <a:extLst>
                <a:ext uri="{FF2B5EF4-FFF2-40B4-BE49-F238E27FC236}">
                  <a16:creationId xmlns:a16="http://schemas.microsoft.com/office/drawing/2014/main" id="{2395C03A-9A74-A80E-0436-824CE8C1B1C5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Freeform 15">
            <a:extLst>
              <a:ext uri="{FF2B5EF4-FFF2-40B4-BE49-F238E27FC236}">
                <a16:creationId xmlns:a16="http://schemas.microsoft.com/office/drawing/2014/main" id="{97C4F2CA-3D19-940E-69A3-12E5A39E4F09}"/>
              </a:ext>
            </a:extLst>
          </p:cNvPr>
          <p:cNvSpPr/>
          <p:nvPr/>
        </p:nvSpPr>
        <p:spPr>
          <a:xfrm>
            <a:off x="-1942699" y="2866936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33" name="Group 23">
            <a:extLst>
              <a:ext uri="{FF2B5EF4-FFF2-40B4-BE49-F238E27FC236}">
                <a16:creationId xmlns:a16="http://schemas.microsoft.com/office/drawing/2014/main" id="{59E41A4A-70BE-557D-017C-AC04CCC69B51}"/>
              </a:ext>
            </a:extLst>
          </p:cNvPr>
          <p:cNvGrpSpPr/>
          <p:nvPr/>
        </p:nvGrpSpPr>
        <p:grpSpPr>
          <a:xfrm rot="-10800000">
            <a:off x="16072232" y="9264119"/>
            <a:ext cx="2374135" cy="2374135"/>
            <a:chOff x="0" y="0"/>
            <a:chExt cx="812800" cy="812800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8376F741-02B2-6602-C987-A64CB2A8CB9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25">
              <a:extLst>
                <a:ext uri="{FF2B5EF4-FFF2-40B4-BE49-F238E27FC236}">
                  <a16:creationId xmlns:a16="http://schemas.microsoft.com/office/drawing/2014/main" id="{75B3079F-5AF1-B6D5-4835-5DC58472960A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6" name="Freeform 15">
            <a:extLst>
              <a:ext uri="{FF2B5EF4-FFF2-40B4-BE49-F238E27FC236}">
                <a16:creationId xmlns:a16="http://schemas.microsoft.com/office/drawing/2014/main" id="{7E38ED5F-8669-9CD6-95A4-2C00E6D44BE7}"/>
              </a:ext>
            </a:extLst>
          </p:cNvPr>
          <p:cNvSpPr/>
          <p:nvPr/>
        </p:nvSpPr>
        <p:spPr>
          <a:xfrm>
            <a:off x="16072232" y="9563334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1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97BD1-4EDC-99DB-68C5-3A469183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F333F1F3-BC67-9539-5588-BC8C6C8ED50C}"/>
              </a:ext>
            </a:extLst>
          </p:cNvPr>
          <p:cNvGrpSpPr/>
          <p:nvPr/>
        </p:nvGrpSpPr>
        <p:grpSpPr>
          <a:xfrm>
            <a:off x="546578" y="2769459"/>
            <a:ext cx="7911622" cy="4126641"/>
            <a:chOff x="0" y="0"/>
            <a:chExt cx="1389146" cy="18037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098A0C2-6567-3673-08BF-CDFC4A7EC692}"/>
                </a:ext>
              </a:extLst>
            </p:cNvPr>
            <p:cNvSpPr/>
            <p:nvPr/>
          </p:nvSpPr>
          <p:spPr>
            <a:xfrm>
              <a:off x="0" y="0"/>
              <a:ext cx="1389146" cy="1803714"/>
            </a:xfrm>
            <a:custGeom>
              <a:avLst/>
              <a:gdLst/>
              <a:ahLst/>
              <a:cxnLst/>
              <a:rect l="l" t="t" r="r" b="b"/>
              <a:pathLst>
                <a:path w="1389146" h="1803714">
                  <a:moveTo>
                    <a:pt x="0" y="0"/>
                  </a:moveTo>
                  <a:lnTo>
                    <a:pt x="1389146" y="0"/>
                  </a:lnTo>
                  <a:lnTo>
                    <a:pt x="1389146" y="1803714"/>
                  </a:lnTo>
                  <a:lnTo>
                    <a:pt x="0" y="1803714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63003CC-A0DD-A9A1-EDC5-0191ED595B7E}"/>
                </a:ext>
              </a:extLst>
            </p:cNvPr>
            <p:cNvSpPr txBox="1"/>
            <p:nvPr/>
          </p:nvSpPr>
          <p:spPr>
            <a:xfrm>
              <a:off x="0" y="-47625"/>
              <a:ext cx="1389146" cy="1851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C6CFE30-A732-D8D3-A67F-5879825217F6}"/>
              </a:ext>
            </a:extLst>
          </p:cNvPr>
          <p:cNvGrpSpPr/>
          <p:nvPr/>
        </p:nvGrpSpPr>
        <p:grpSpPr>
          <a:xfrm rot="-10800000">
            <a:off x="7127382" y="-1698012"/>
            <a:ext cx="3396023" cy="3396023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8C71478-D807-AE78-5C6E-97A394EDF6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09671409-2906-E170-DE50-DAF68C90E241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2D616649-C901-3B85-6D06-089C488C12F2}"/>
              </a:ext>
            </a:extLst>
          </p:cNvPr>
          <p:cNvSpPr txBox="1"/>
          <p:nvPr/>
        </p:nvSpPr>
        <p:spPr>
          <a:xfrm>
            <a:off x="941973" y="3859799"/>
            <a:ext cx="7516227" cy="2861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Live chat with support team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Request a call back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Branch locator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FAQ section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93F2D187-DA04-BF14-E1DE-1C08B8A7C523}"/>
              </a:ext>
            </a:extLst>
          </p:cNvPr>
          <p:cNvSpPr txBox="1"/>
          <p:nvPr/>
        </p:nvSpPr>
        <p:spPr>
          <a:xfrm>
            <a:off x="501018" y="1197463"/>
            <a:ext cx="17754600" cy="145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1966"/>
              </a:lnSpc>
              <a:spcBef>
                <a:spcPct val="0"/>
              </a:spcBef>
            </a:pPr>
            <a:r>
              <a:rPr lang="en-US" sz="9972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VIP Wallet Overview</a:t>
            </a:r>
          </a:p>
        </p:txBody>
      </p:sp>
      <p:grpSp>
        <p:nvGrpSpPr>
          <p:cNvPr id="29" name="Group 23">
            <a:extLst>
              <a:ext uri="{FF2B5EF4-FFF2-40B4-BE49-F238E27FC236}">
                <a16:creationId xmlns:a16="http://schemas.microsoft.com/office/drawing/2014/main" id="{CA99DF91-E237-A81C-6CE5-ACE4A57BB8CD}"/>
              </a:ext>
            </a:extLst>
          </p:cNvPr>
          <p:cNvGrpSpPr/>
          <p:nvPr/>
        </p:nvGrpSpPr>
        <p:grpSpPr>
          <a:xfrm rot="-10800000">
            <a:off x="-1942699" y="2567721"/>
            <a:ext cx="2374135" cy="2374135"/>
            <a:chOff x="0" y="0"/>
            <a:chExt cx="812800" cy="812800"/>
          </a:xfrm>
        </p:grpSpPr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21C5868C-BFDB-6DE5-0D15-B247D74E83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25">
              <a:extLst>
                <a:ext uri="{FF2B5EF4-FFF2-40B4-BE49-F238E27FC236}">
                  <a16:creationId xmlns:a16="http://schemas.microsoft.com/office/drawing/2014/main" id="{5205F102-C089-9335-EF86-5AC7D1EC0DCC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Freeform 15">
            <a:extLst>
              <a:ext uri="{FF2B5EF4-FFF2-40B4-BE49-F238E27FC236}">
                <a16:creationId xmlns:a16="http://schemas.microsoft.com/office/drawing/2014/main" id="{22FDCE51-869E-82AC-DD5C-EB290C29B67B}"/>
              </a:ext>
            </a:extLst>
          </p:cNvPr>
          <p:cNvSpPr/>
          <p:nvPr/>
        </p:nvSpPr>
        <p:spPr>
          <a:xfrm>
            <a:off x="-1942699" y="2866936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33" name="Group 23">
            <a:extLst>
              <a:ext uri="{FF2B5EF4-FFF2-40B4-BE49-F238E27FC236}">
                <a16:creationId xmlns:a16="http://schemas.microsoft.com/office/drawing/2014/main" id="{1EBFD193-19D1-F3B4-B249-2789E5227FFC}"/>
              </a:ext>
            </a:extLst>
          </p:cNvPr>
          <p:cNvGrpSpPr/>
          <p:nvPr/>
        </p:nvGrpSpPr>
        <p:grpSpPr>
          <a:xfrm rot="-10800000">
            <a:off x="16072232" y="9264119"/>
            <a:ext cx="2374135" cy="2374135"/>
            <a:chOff x="0" y="0"/>
            <a:chExt cx="812800" cy="812800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997B48A2-5724-6F1E-9C31-C147721C371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25">
              <a:extLst>
                <a:ext uri="{FF2B5EF4-FFF2-40B4-BE49-F238E27FC236}">
                  <a16:creationId xmlns:a16="http://schemas.microsoft.com/office/drawing/2014/main" id="{46E42B7A-D83C-62A8-27D3-07A9D387DF8E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6" name="Freeform 15">
            <a:extLst>
              <a:ext uri="{FF2B5EF4-FFF2-40B4-BE49-F238E27FC236}">
                <a16:creationId xmlns:a16="http://schemas.microsoft.com/office/drawing/2014/main" id="{A512C389-4E5F-AEA6-F2A4-D61D8283EC4C}"/>
              </a:ext>
            </a:extLst>
          </p:cNvPr>
          <p:cNvSpPr/>
          <p:nvPr/>
        </p:nvSpPr>
        <p:spPr>
          <a:xfrm>
            <a:off x="16072232" y="9563334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46" name="Group 11">
            <a:extLst>
              <a:ext uri="{FF2B5EF4-FFF2-40B4-BE49-F238E27FC236}">
                <a16:creationId xmlns:a16="http://schemas.microsoft.com/office/drawing/2014/main" id="{E67E3E02-6A56-9047-4F8F-E35E24D8459E}"/>
              </a:ext>
            </a:extLst>
          </p:cNvPr>
          <p:cNvGrpSpPr/>
          <p:nvPr/>
        </p:nvGrpSpPr>
        <p:grpSpPr>
          <a:xfrm>
            <a:off x="669185" y="2769459"/>
            <a:ext cx="7789015" cy="926241"/>
            <a:chOff x="0" y="0"/>
            <a:chExt cx="1389146" cy="425564"/>
          </a:xfrm>
        </p:grpSpPr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78C75BD2-A91B-956E-540C-6F8D611F4E31}"/>
                </a:ext>
              </a:extLst>
            </p:cNvPr>
            <p:cNvSpPr/>
            <p:nvPr/>
          </p:nvSpPr>
          <p:spPr>
            <a:xfrm>
              <a:off x="0" y="0"/>
              <a:ext cx="1389146" cy="425564"/>
            </a:xfrm>
            <a:custGeom>
              <a:avLst/>
              <a:gdLst/>
              <a:ahLst/>
              <a:cxnLst/>
              <a:rect l="l" t="t" r="r" b="b"/>
              <a:pathLst>
                <a:path w="1389146" h="425564">
                  <a:moveTo>
                    <a:pt x="0" y="0"/>
                  </a:moveTo>
                  <a:lnTo>
                    <a:pt x="1389146" y="0"/>
                  </a:lnTo>
                  <a:lnTo>
                    <a:pt x="1389146" y="425564"/>
                  </a:lnTo>
                  <a:lnTo>
                    <a:pt x="0" y="425564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13">
              <a:extLst>
                <a:ext uri="{FF2B5EF4-FFF2-40B4-BE49-F238E27FC236}">
                  <a16:creationId xmlns:a16="http://schemas.microsoft.com/office/drawing/2014/main" id="{3EABB4B8-563A-D5E6-A4D4-F3545CC42518}"/>
                </a:ext>
              </a:extLst>
            </p:cNvPr>
            <p:cNvSpPr txBox="1"/>
            <p:nvPr/>
          </p:nvSpPr>
          <p:spPr>
            <a:xfrm>
              <a:off x="0" y="-47625"/>
              <a:ext cx="1389146" cy="473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5" name="TextBox 21">
            <a:extLst>
              <a:ext uri="{FF2B5EF4-FFF2-40B4-BE49-F238E27FC236}">
                <a16:creationId xmlns:a16="http://schemas.microsoft.com/office/drawing/2014/main" id="{D12B292F-6D64-13DF-C5FA-B0A571381055}"/>
              </a:ext>
            </a:extLst>
          </p:cNvPr>
          <p:cNvSpPr txBox="1"/>
          <p:nvPr/>
        </p:nvSpPr>
        <p:spPr>
          <a:xfrm>
            <a:off x="821585" y="2552700"/>
            <a:ext cx="5222535" cy="90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640"/>
              </a:lnSpc>
              <a:spcBef>
                <a:spcPct val="0"/>
              </a:spcBef>
            </a:pPr>
            <a:r>
              <a:rPr lang="en-US" sz="2800" b="1" u="none" strike="noStrike" dirty="0">
                <a:solidFill>
                  <a:srgbClr val="FFFFFF"/>
                </a:solidFill>
                <a:latin typeface="Proxima Nova" panose="020B0604020202020204" charset="0"/>
                <a:ea typeface="Oswald"/>
                <a:cs typeface="Oswald"/>
                <a:sym typeface="Oswald"/>
              </a:rPr>
              <a:t>Customer Support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595A0C-CD73-FA6F-DC37-2FBD722A8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54" t="23468" r="1862" b="24444"/>
          <a:stretch>
            <a:fillRect/>
          </a:stretch>
        </p:blipFill>
        <p:spPr>
          <a:xfrm>
            <a:off x="11745748" y="1335363"/>
            <a:ext cx="3918429" cy="873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9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DF8EC-BC23-325F-916C-EB5EF08D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9A65767-27CC-6DE1-4851-807214FB9DEB}"/>
              </a:ext>
            </a:extLst>
          </p:cNvPr>
          <p:cNvGrpSpPr/>
          <p:nvPr/>
        </p:nvGrpSpPr>
        <p:grpSpPr>
          <a:xfrm>
            <a:off x="622778" y="2866936"/>
            <a:ext cx="7911622" cy="5380990"/>
            <a:chOff x="0" y="0"/>
            <a:chExt cx="1389146" cy="18037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A27FF67-2B88-71B0-D5D7-A75CE67E432B}"/>
                </a:ext>
              </a:extLst>
            </p:cNvPr>
            <p:cNvSpPr/>
            <p:nvPr/>
          </p:nvSpPr>
          <p:spPr>
            <a:xfrm>
              <a:off x="0" y="0"/>
              <a:ext cx="1389146" cy="1803714"/>
            </a:xfrm>
            <a:custGeom>
              <a:avLst/>
              <a:gdLst/>
              <a:ahLst/>
              <a:cxnLst/>
              <a:rect l="l" t="t" r="r" b="b"/>
              <a:pathLst>
                <a:path w="1389146" h="1803714">
                  <a:moveTo>
                    <a:pt x="0" y="0"/>
                  </a:moveTo>
                  <a:lnTo>
                    <a:pt x="1389146" y="0"/>
                  </a:lnTo>
                  <a:lnTo>
                    <a:pt x="1389146" y="1803714"/>
                  </a:lnTo>
                  <a:lnTo>
                    <a:pt x="0" y="1803714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6FE40A2-72D0-ABBE-2AF7-ADED52FD1758}"/>
                </a:ext>
              </a:extLst>
            </p:cNvPr>
            <p:cNvSpPr txBox="1"/>
            <p:nvPr/>
          </p:nvSpPr>
          <p:spPr>
            <a:xfrm>
              <a:off x="0" y="-47625"/>
              <a:ext cx="1389146" cy="1851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3388005-EC75-E824-8404-19C5E779A1EC}"/>
              </a:ext>
            </a:extLst>
          </p:cNvPr>
          <p:cNvGrpSpPr/>
          <p:nvPr/>
        </p:nvGrpSpPr>
        <p:grpSpPr>
          <a:xfrm rot="-10800000">
            <a:off x="7127382" y="-1698012"/>
            <a:ext cx="3396023" cy="3396023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D0A3157-7F4C-19BA-6316-E966AA701B6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A92EFDA0-0E7E-7CED-4A1D-BC5450B6C07A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B55D4455-E447-AAA7-C1A3-98694A7EFD42}"/>
              </a:ext>
            </a:extLst>
          </p:cNvPr>
          <p:cNvGrpSpPr/>
          <p:nvPr/>
        </p:nvGrpSpPr>
        <p:grpSpPr>
          <a:xfrm rot="-10800000">
            <a:off x="16639672" y="-1858389"/>
            <a:ext cx="3396023" cy="3396023"/>
            <a:chOff x="0" y="0"/>
            <a:chExt cx="812800" cy="81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0F1E90FF-D16D-AE84-865B-63AA3DB26A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66B029D9-51D3-9AF9-6871-DA9725EB8CEB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BA235C65-1E22-DBC6-DB65-E0BA0D3E100E}"/>
              </a:ext>
            </a:extLst>
          </p:cNvPr>
          <p:cNvSpPr txBox="1"/>
          <p:nvPr/>
        </p:nvSpPr>
        <p:spPr>
          <a:xfrm>
            <a:off x="1018173" y="3802405"/>
            <a:ext cx="7516227" cy="4338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AI Powered Claim Settlement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AI chatbot for quick questions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Risk alerts </a:t>
            </a:r>
          </a:p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(flood/weather alerts for motor/property)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Wellness rewards / loyalty programs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Push notifications for important updates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29E6956E-24F3-2D62-C5BA-CB37AC3BF8B1}"/>
              </a:ext>
            </a:extLst>
          </p:cNvPr>
          <p:cNvSpPr txBox="1"/>
          <p:nvPr/>
        </p:nvSpPr>
        <p:spPr>
          <a:xfrm>
            <a:off x="501018" y="1197463"/>
            <a:ext cx="17754600" cy="145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1966"/>
              </a:lnSpc>
              <a:spcBef>
                <a:spcPct val="0"/>
              </a:spcBef>
            </a:pPr>
            <a:r>
              <a:rPr lang="en-US" sz="9972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Future Developments</a:t>
            </a:r>
          </a:p>
        </p:txBody>
      </p:sp>
      <p:grpSp>
        <p:nvGrpSpPr>
          <p:cNvPr id="29" name="Group 23">
            <a:extLst>
              <a:ext uri="{FF2B5EF4-FFF2-40B4-BE49-F238E27FC236}">
                <a16:creationId xmlns:a16="http://schemas.microsoft.com/office/drawing/2014/main" id="{696EF0E2-79B6-50A0-75C7-FBD60A6EF672}"/>
              </a:ext>
            </a:extLst>
          </p:cNvPr>
          <p:cNvGrpSpPr/>
          <p:nvPr/>
        </p:nvGrpSpPr>
        <p:grpSpPr>
          <a:xfrm rot="-10800000">
            <a:off x="-1942699" y="2567721"/>
            <a:ext cx="2374135" cy="2374135"/>
            <a:chOff x="0" y="0"/>
            <a:chExt cx="812800" cy="812800"/>
          </a:xfrm>
        </p:grpSpPr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95422210-FAFA-576A-9077-4201EDC78E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25">
              <a:extLst>
                <a:ext uri="{FF2B5EF4-FFF2-40B4-BE49-F238E27FC236}">
                  <a16:creationId xmlns:a16="http://schemas.microsoft.com/office/drawing/2014/main" id="{93BC7DB4-7151-5887-B428-13A0C8E56A7C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Freeform 15">
            <a:extLst>
              <a:ext uri="{FF2B5EF4-FFF2-40B4-BE49-F238E27FC236}">
                <a16:creationId xmlns:a16="http://schemas.microsoft.com/office/drawing/2014/main" id="{ED421EF4-203B-58D1-E135-39A31D2D02E5}"/>
              </a:ext>
            </a:extLst>
          </p:cNvPr>
          <p:cNvSpPr/>
          <p:nvPr/>
        </p:nvSpPr>
        <p:spPr>
          <a:xfrm>
            <a:off x="-1942699" y="2866936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33" name="Group 23">
            <a:extLst>
              <a:ext uri="{FF2B5EF4-FFF2-40B4-BE49-F238E27FC236}">
                <a16:creationId xmlns:a16="http://schemas.microsoft.com/office/drawing/2014/main" id="{0088F42A-0EF3-CDE2-A0AF-0857EEF91CE7}"/>
              </a:ext>
            </a:extLst>
          </p:cNvPr>
          <p:cNvGrpSpPr/>
          <p:nvPr/>
        </p:nvGrpSpPr>
        <p:grpSpPr>
          <a:xfrm rot="-10800000">
            <a:off x="16072232" y="9264119"/>
            <a:ext cx="2374135" cy="2374135"/>
            <a:chOff x="0" y="0"/>
            <a:chExt cx="812800" cy="812800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83E9154A-F0B0-B4B6-ED24-F1A3BB63E03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25">
              <a:extLst>
                <a:ext uri="{FF2B5EF4-FFF2-40B4-BE49-F238E27FC236}">
                  <a16:creationId xmlns:a16="http://schemas.microsoft.com/office/drawing/2014/main" id="{24C35009-603D-A257-9F33-B27F2397D5C1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6" name="Freeform 15">
            <a:extLst>
              <a:ext uri="{FF2B5EF4-FFF2-40B4-BE49-F238E27FC236}">
                <a16:creationId xmlns:a16="http://schemas.microsoft.com/office/drawing/2014/main" id="{E8A2B248-41AC-2CB7-8CC0-D5D4351F4426}"/>
              </a:ext>
            </a:extLst>
          </p:cNvPr>
          <p:cNvSpPr/>
          <p:nvPr/>
        </p:nvSpPr>
        <p:spPr>
          <a:xfrm>
            <a:off x="16072232" y="9563334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46" name="Group 11">
            <a:extLst>
              <a:ext uri="{FF2B5EF4-FFF2-40B4-BE49-F238E27FC236}">
                <a16:creationId xmlns:a16="http://schemas.microsoft.com/office/drawing/2014/main" id="{BB4A8F9B-34D1-FB95-8F4C-08515DCE21CD}"/>
              </a:ext>
            </a:extLst>
          </p:cNvPr>
          <p:cNvGrpSpPr/>
          <p:nvPr/>
        </p:nvGrpSpPr>
        <p:grpSpPr>
          <a:xfrm>
            <a:off x="745385" y="2769459"/>
            <a:ext cx="7789015" cy="926241"/>
            <a:chOff x="0" y="0"/>
            <a:chExt cx="1389146" cy="425564"/>
          </a:xfrm>
        </p:grpSpPr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7B60CF6B-5C53-9B47-7BF9-ABB3B015D3DA}"/>
                </a:ext>
              </a:extLst>
            </p:cNvPr>
            <p:cNvSpPr/>
            <p:nvPr/>
          </p:nvSpPr>
          <p:spPr>
            <a:xfrm>
              <a:off x="0" y="0"/>
              <a:ext cx="1389146" cy="425564"/>
            </a:xfrm>
            <a:custGeom>
              <a:avLst/>
              <a:gdLst/>
              <a:ahLst/>
              <a:cxnLst/>
              <a:rect l="l" t="t" r="r" b="b"/>
              <a:pathLst>
                <a:path w="1389146" h="425564">
                  <a:moveTo>
                    <a:pt x="0" y="0"/>
                  </a:moveTo>
                  <a:lnTo>
                    <a:pt x="1389146" y="0"/>
                  </a:lnTo>
                  <a:lnTo>
                    <a:pt x="1389146" y="425564"/>
                  </a:lnTo>
                  <a:lnTo>
                    <a:pt x="0" y="425564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13">
              <a:extLst>
                <a:ext uri="{FF2B5EF4-FFF2-40B4-BE49-F238E27FC236}">
                  <a16:creationId xmlns:a16="http://schemas.microsoft.com/office/drawing/2014/main" id="{4EB42344-F0F0-C854-1753-8C780393A875}"/>
                </a:ext>
              </a:extLst>
            </p:cNvPr>
            <p:cNvSpPr txBox="1"/>
            <p:nvPr/>
          </p:nvSpPr>
          <p:spPr>
            <a:xfrm>
              <a:off x="0" y="-47625"/>
              <a:ext cx="1389146" cy="473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5" name="TextBox 21">
            <a:extLst>
              <a:ext uri="{FF2B5EF4-FFF2-40B4-BE49-F238E27FC236}">
                <a16:creationId xmlns:a16="http://schemas.microsoft.com/office/drawing/2014/main" id="{E79631A0-9BD6-7B60-5569-3AD6553D8B6D}"/>
              </a:ext>
            </a:extLst>
          </p:cNvPr>
          <p:cNvSpPr txBox="1"/>
          <p:nvPr/>
        </p:nvSpPr>
        <p:spPr>
          <a:xfrm>
            <a:off x="897785" y="2552700"/>
            <a:ext cx="5222535" cy="90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640"/>
              </a:lnSpc>
              <a:spcBef>
                <a:spcPct val="0"/>
              </a:spcBef>
            </a:pPr>
            <a:r>
              <a:rPr lang="en-US" sz="2800" b="1" u="none" strike="noStrike" dirty="0">
                <a:solidFill>
                  <a:srgbClr val="FFFFFF"/>
                </a:solidFill>
                <a:latin typeface="Proxima Nova" panose="020B0604020202020204" charset="0"/>
                <a:ea typeface="Oswald"/>
                <a:cs typeface="Oswald"/>
                <a:sym typeface="Oswald"/>
              </a:rPr>
              <a:t>Additional Smart Features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F57D7B-3264-C294-E835-E1209A11E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61" t="23468" r="17489" b="24444"/>
          <a:stretch>
            <a:fillRect/>
          </a:stretch>
        </p:blipFill>
        <p:spPr>
          <a:xfrm>
            <a:off x="11651719" y="1507835"/>
            <a:ext cx="3859638" cy="873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1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8F28-C5D8-4FEE-6192-ECACE55E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8E3A3F2F-77BC-41E6-FD08-14073F959C0F}"/>
              </a:ext>
            </a:extLst>
          </p:cNvPr>
          <p:cNvSpPr txBox="1"/>
          <p:nvPr/>
        </p:nvSpPr>
        <p:spPr>
          <a:xfrm>
            <a:off x="7852915" y="4983694"/>
            <a:ext cx="2106779" cy="1198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855"/>
              </a:lnSpc>
              <a:spcBef>
                <a:spcPct val="0"/>
              </a:spcBef>
            </a:pPr>
            <a:r>
              <a:rPr lang="en-US" sz="8213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2D32BE80-567C-D612-98C2-633A936CAF7D}"/>
              </a:ext>
            </a:extLst>
          </p:cNvPr>
          <p:cNvGrpSpPr/>
          <p:nvPr/>
        </p:nvGrpSpPr>
        <p:grpSpPr>
          <a:xfrm rot="2700000">
            <a:off x="13419492" y="-116578"/>
            <a:ext cx="6771901" cy="3309113"/>
            <a:chOff x="0" y="0"/>
            <a:chExt cx="812800" cy="397178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0F9E09D-D316-E8D1-810A-C417A91477F2}"/>
                </a:ext>
              </a:extLst>
            </p:cNvPr>
            <p:cNvSpPr/>
            <p:nvPr/>
          </p:nvSpPr>
          <p:spPr>
            <a:xfrm>
              <a:off x="0" y="0"/>
              <a:ext cx="812800" cy="397178"/>
            </a:xfrm>
            <a:custGeom>
              <a:avLst/>
              <a:gdLst/>
              <a:ahLst/>
              <a:cxnLst/>
              <a:rect l="l" t="t" r="r" b="b"/>
              <a:pathLst>
                <a:path w="812800" h="397178">
                  <a:moveTo>
                    <a:pt x="406400" y="0"/>
                  </a:moveTo>
                  <a:lnTo>
                    <a:pt x="812800" y="397178"/>
                  </a:lnTo>
                  <a:lnTo>
                    <a:pt x="0" y="397178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BBAFBEC0-78E7-5518-BB5E-5E7A3BCB55DE}"/>
                </a:ext>
              </a:extLst>
            </p:cNvPr>
            <p:cNvSpPr txBox="1"/>
            <p:nvPr/>
          </p:nvSpPr>
          <p:spPr>
            <a:xfrm>
              <a:off x="127000" y="136779"/>
              <a:ext cx="558800" cy="232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0" name="Freeform 15">
            <a:extLst>
              <a:ext uri="{FF2B5EF4-FFF2-40B4-BE49-F238E27FC236}">
                <a16:creationId xmlns:a16="http://schemas.microsoft.com/office/drawing/2014/main" id="{D8C3EDAB-CE66-4FC9-B572-753F70124139}"/>
              </a:ext>
            </a:extLst>
          </p:cNvPr>
          <p:cNvSpPr/>
          <p:nvPr/>
        </p:nvSpPr>
        <p:spPr>
          <a:xfrm>
            <a:off x="15011400" y="890498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31" name="Group 14">
            <a:extLst>
              <a:ext uri="{FF2B5EF4-FFF2-40B4-BE49-F238E27FC236}">
                <a16:creationId xmlns:a16="http://schemas.microsoft.com/office/drawing/2014/main" id="{70A92BBE-EB5F-89AA-A926-393B47C62208}"/>
              </a:ext>
            </a:extLst>
          </p:cNvPr>
          <p:cNvGrpSpPr/>
          <p:nvPr/>
        </p:nvGrpSpPr>
        <p:grpSpPr>
          <a:xfrm>
            <a:off x="15325785" y="1179603"/>
            <a:ext cx="1819216" cy="1830297"/>
            <a:chOff x="24360" y="17231"/>
            <a:chExt cx="812800" cy="812800"/>
          </a:xfrm>
        </p:grpSpPr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04163524-F819-9B64-7B3E-985F8D0752B0}"/>
                </a:ext>
              </a:extLst>
            </p:cNvPr>
            <p:cNvSpPr/>
            <p:nvPr/>
          </p:nvSpPr>
          <p:spPr>
            <a:xfrm>
              <a:off x="24360" y="1723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16">
              <a:extLst>
                <a:ext uri="{FF2B5EF4-FFF2-40B4-BE49-F238E27FC236}">
                  <a16:creationId xmlns:a16="http://schemas.microsoft.com/office/drawing/2014/main" id="{B831987E-8BC5-CF80-C42C-253D3B3A4C12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dirty="0"/>
            </a:p>
          </p:txBody>
        </p:sp>
      </p:grpSp>
      <p:grpSp>
        <p:nvGrpSpPr>
          <p:cNvPr id="34" name="Group 23">
            <a:extLst>
              <a:ext uri="{FF2B5EF4-FFF2-40B4-BE49-F238E27FC236}">
                <a16:creationId xmlns:a16="http://schemas.microsoft.com/office/drawing/2014/main" id="{BCB1CCB4-EB5E-9BD3-3FFB-D6C9CAAA2DF3}"/>
              </a:ext>
            </a:extLst>
          </p:cNvPr>
          <p:cNvGrpSpPr/>
          <p:nvPr/>
        </p:nvGrpSpPr>
        <p:grpSpPr>
          <a:xfrm rot="-10800000">
            <a:off x="-859749" y="8120885"/>
            <a:ext cx="2374135" cy="2374135"/>
            <a:chOff x="0" y="0"/>
            <a:chExt cx="812800" cy="812800"/>
          </a:xfrm>
        </p:grpSpPr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21BCA82F-6A50-26FC-451C-B29F090DC3B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5">
              <a:extLst>
                <a:ext uri="{FF2B5EF4-FFF2-40B4-BE49-F238E27FC236}">
                  <a16:creationId xmlns:a16="http://schemas.microsoft.com/office/drawing/2014/main" id="{AF6F31F6-B066-F4F1-B936-F0FB6D914134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7" name="Freeform 15">
            <a:extLst>
              <a:ext uri="{FF2B5EF4-FFF2-40B4-BE49-F238E27FC236}">
                <a16:creationId xmlns:a16="http://schemas.microsoft.com/office/drawing/2014/main" id="{FE2A6A6A-3821-BE07-05BA-F604E4EA426C}"/>
              </a:ext>
            </a:extLst>
          </p:cNvPr>
          <p:cNvSpPr/>
          <p:nvPr/>
        </p:nvSpPr>
        <p:spPr>
          <a:xfrm>
            <a:off x="-859749" y="8420100"/>
            <a:ext cx="2374135" cy="23741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ADD9792-408E-625D-FFD2-6D3B75D85ADC}"/>
              </a:ext>
            </a:extLst>
          </p:cNvPr>
          <p:cNvGrpSpPr/>
          <p:nvPr/>
        </p:nvGrpSpPr>
        <p:grpSpPr>
          <a:xfrm>
            <a:off x="12271838" y="9107397"/>
            <a:ext cx="6624203" cy="914400"/>
            <a:chOff x="767198" y="9040413"/>
            <a:chExt cx="6624203" cy="914400"/>
          </a:xfrm>
        </p:grpSpPr>
        <p:sp>
          <p:nvSpPr>
            <p:cNvPr id="39" name="TextBox 30">
              <a:extLst>
                <a:ext uri="{FF2B5EF4-FFF2-40B4-BE49-F238E27FC236}">
                  <a16:creationId xmlns:a16="http://schemas.microsoft.com/office/drawing/2014/main" id="{DE470949-8FA8-F5E3-4AAC-E7F979254D92}"/>
                </a:ext>
              </a:extLst>
            </p:cNvPr>
            <p:cNvSpPr txBox="1"/>
            <p:nvPr/>
          </p:nvSpPr>
          <p:spPr>
            <a:xfrm>
              <a:off x="1779003" y="9215485"/>
              <a:ext cx="5612398" cy="5642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431"/>
                </a:lnSpc>
              </a:pPr>
              <a:r>
                <a:rPr lang="en-US" sz="3692" dirty="0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Ceylinco General Insurance 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BB6D7C7-1621-6DAF-58CE-43C6AA057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198" y="9040413"/>
              <a:ext cx="914400" cy="914400"/>
            </a:xfrm>
            <a:prstGeom prst="rect">
              <a:avLst/>
            </a:prstGeom>
          </p:spPr>
        </p:pic>
      </p:grpSp>
      <p:sp>
        <p:nvSpPr>
          <p:cNvPr id="9" name="TextBox 10">
            <a:extLst>
              <a:ext uri="{FF2B5EF4-FFF2-40B4-BE49-F238E27FC236}">
                <a16:creationId xmlns:a16="http://schemas.microsoft.com/office/drawing/2014/main" id="{354B5492-15AA-C924-F773-E4EB9F7F96AB}"/>
              </a:ext>
            </a:extLst>
          </p:cNvPr>
          <p:cNvSpPr txBox="1"/>
          <p:nvPr/>
        </p:nvSpPr>
        <p:spPr>
          <a:xfrm>
            <a:off x="2379640" y="4743007"/>
            <a:ext cx="12631760" cy="999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95"/>
              </a:lnSpc>
              <a:spcBef>
                <a:spcPct val="0"/>
              </a:spcBef>
            </a:pPr>
            <a:r>
              <a:rPr lang="en-US" sz="9600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THANK YOU..</a:t>
            </a:r>
            <a:endParaRPr lang="en-US" sz="9600" u="none" strike="noStrik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  <p:extLst>
      <p:ext uri="{BB962C8B-B14F-4D97-AF65-F5344CB8AC3E}">
        <p14:creationId xmlns:p14="http://schemas.microsoft.com/office/powerpoint/2010/main" val="223265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</TotalTime>
  <Words>265</Words>
  <Application>Microsoft Office PowerPoint</Application>
  <PresentationFormat>Custom</PresentationFormat>
  <Paragraphs>73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Oswald</vt:lpstr>
      <vt:lpstr>Calibri</vt:lpstr>
      <vt:lpstr>Proxima Nova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Business Insurance Proposal Presentation</dc:title>
  <dc:creator>Hiron Perera</dc:creator>
  <cp:lastModifiedBy>Lahiru  Manchanayake</cp:lastModifiedBy>
  <cp:revision>135</cp:revision>
  <dcterms:created xsi:type="dcterms:W3CDTF">2006-08-16T00:00:00Z</dcterms:created>
  <dcterms:modified xsi:type="dcterms:W3CDTF">2026-06-03T03:56:47Z</dcterms:modified>
  <dc:identifier>DAHEHQgmpaE</dc:identifier>
</cp:coreProperties>
</file>